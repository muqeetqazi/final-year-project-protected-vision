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4" r:id="rId5"/>
    <p:sldId id="265" r:id="rId6"/>
    <p:sldId id="266" r:id="rId7"/>
    <p:sldId id="268" r:id="rId8"/>
    <p:sldId id="260" r:id="rId9"/>
    <p:sldId id="270" r:id="rId10"/>
    <p:sldId id="263" r:id="rId11"/>
    <p:sldId id="271" r:id="rId12"/>
    <p:sldId id="262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ECFAB7-7369-00CF-282E-8C656FAEE055}" v="3127" dt="2025-11-05T22:49:06.129"/>
    <p1510:client id="{CFFAF343-2024-1F95-AABD-3F71EBDAF558}" v="305" dt="2025-11-05T23:34:38.4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A6757C-CCA8-4107-98F3-5624AA78811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D328F76-064F-4046-8DD4-F8C3217DC2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project implemented a computer vision–based framework capable of detecting and concealing sensitive information in visual media.</a:t>
          </a:r>
        </a:p>
      </dgm:t>
    </dgm:pt>
    <dgm:pt modelId="{924DFB37-22BD-4215-B819-6DA0632FA8F5}" type="parTrans" cxnId="{77BA0153-7F82-43F0-96FB-BC750504F198}">
      <dgm:prSet/>
      <dgm:spPr/>
      <dgm:t>
        <a:bodyPr/>
        <a:lstStyle/>
        <a:p>
          <a:endParaRPr lang="en-US"/>
        </a:p>
      </dgm:t>
    </dgm:pt>
    <dgm:pt modelId="{8143D759-F522-46F7-AA83-6772DB23E6A8}" type="sibTrans" cxnId="{77BA0153-7F82-43F0-96FB-BC750504F198}">
      <dgm:prSet/>
      <dgm:spPr/>
      <dgm:t>
        <a:bodyPr/>
        <a:lstStyle/>
        <a:p>
          <a:endParaRPr lang="en-US"/>
        </a:p>
      </dgm:t>
    </dgm:pt>
    <dgm:pt modelId="{1590643E-81DD-40D3-928E-9617927349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High precision and recall across multiple models validate the system’s robustness and reliability.</a:t>
          </a:r>
        </a:p>
      </dgm:t>
    </dgm:pt>
    <dgm:pt modelId="{E2B8B3B7-A348-4BC2-BFC1-866715177381}" type="parTrans" cxnId="{1DD1621A-0BEE-4CC3-9996-E5474D769D19}">
      <dgm:prSet/>
      <dgm:spPr/>
      <dgm:t>
        <a:bodyPr/>
        <a:lstStyle/>
        <a:p>
          <a:endParaRPr lang="en-US"/>
        </a:p>
      </dgm:t>
    </dgm:pt>
    <dgm:pt modelId="{5D2BDE5F-8477-4D4C-88A1-50EEB65DABFB}" type="sibTrans" cxnId="{1DD1621A-0BEE-4CC3-9996-E5474D769D19}">
      <dgm:prSet/>
      <dgm:spPr/>
      <dgm:t>
        <a:bodyPr/>
        <a:lstStyle/>
        <a:p>
          <a:endParaRPr lang="en-US"/>
        </a:p>
      </dgm:t>
    </dgm:pt>
    <dgm:pt modelId="{CF18F95D-C8DD-4C75-8EC0-43C4DA734B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proposed approach demonstrates significant potential for real-world deployment in enhancing user privacy and data protection.</a:t>
          </a:r>
        </a:p>
      </dgm:t>
    </dgm:pt>
    <dgm:pt modelId="{00ECC4B1-BB1E-45E6-8995-3C76886D4AA0}" type="parTrans" cxnId="{FFDDB21C-B91B-4D65-BAB8-04F3C175E5A2}">
      <dgm:prSet/>
      <dgm:spPr/>
      <dgm:t>
        <a:bodyPr/>
        <a:lstStyle/>
        <a:p>
          <a:endParaRPr lang="en-US"/>
        </a:p>
      </dgm:t>
    </dgm:pt>
    <dgm:pt modelId="{2402F9DA-F161-4312-920B-C601F69BFD24}" type="sibTrans" cxnId="{FFDDB21C-B91B-4D65-BAB8-04F3C175E5A2}">
      <dgm:prSet/>
      <dgm:spPr/>
      <dgm:t>
        <a:bodyPr/>
        <a:lstStyle/>
        <a:p>
          <a:endParaRPr lang="en-US"/>
        </a:p>
      </dgm:t>
    </dgm:pt>
    <dgm:pt modelId="{B6D63D77-B05D-4A1A-9A42-BB83849F4A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 integrating advanced detection with automated redaction, </a:t>
          </a:r>
          <a:r>
            <a:rPr lang="en-US" i="1"/>
            <a:t>Protective Vision</a:t>
          </a:r>
          <a:r>
            <a:rPr lang="en-US"/>
            <a:t> contributes toward developing secure, ethical, and intelligent privacy-preserving systems.</a:t>
          </a:r>
        </a:p>
      </dgm:t>
    </dgm:pt>
    <dgm:pt modelId="{5CD7F81A-7E2A-4C60-A65E-A1BE4118FB4F}" type="parTrans" cxnId="{681F10CB-ECA1-4C2D-9EA3-7CD64EF41796}">
      <dgm:prSet/>
      <dgm:spPr/>
      <dgm:t>
        <a:bodyPr/>
        <a:lstStyle/>
        <a:p>
          <a:endParaRPr lang="en-US"/>
        </a:p>
      </dgm:t>
    </dgm:pt>
    <dgm:pt modelId="{AD08FEEC-B650-4D4E-BA40-612EEBDEC386}" type="sibTrans" cxnId="{681F10CB-ECA1-4C2D-9EA3-7CD64EF41796}">
      <dgm:prSet/>
      <dgm:spPr/>
      <dgm:t>
        <a:bodyPr/>
        <a:lstStyle/>
        <a:p>
          <a:endParaRPr lang="en-US"/>
        </a:p>
      </dgm:t>
    </dgm:pt>
    <dgm:pt modelId="{638349B9-8CA7-4198-A50E-D7631B5A9520}" type="pres">
      <dgm:prSet presAssocID="{CDA6757C-CCA8-4107-98F3-5624AA78811D}" presName="root" presStyleCnt="0">
        <dgm:presLayoutVars>
          <dgm:dir/>
          <dgm:resizeHandles val="exact"/>
        </dgm:presLayoutVars>
      </dgm:prSet>
      <dgm:spPr/>
    </dgm:pt>
    <dgm:pt modelId="{5EEE399C-EC7B-401F-8AC7-52D069565941}" type="pres">
      <dgm:prSet presAssocID="{3D328F76-064F-4046-8DD4-F8C3217DC21C}" presName="compNode" presStyleCnt="0"/>
      <dgm:spPr/>
    </dgm:pt>
    <dgm:pt modelId="{8CB9932B-5BE5-4636-9244-1E317DB9D487}" type="pres">
      <dgm:prSet presAssocID="{3D328F76-064F-4046-8DD4-F8C3217DC21C}" presName="bgRect" presStyleLbl="bgShp" presStyleIdx="0" presStyleCnt="4"/>
      <dgm:spPr/>
    </dgm:pt>
    <dgm:pt modelId="{518BC0FC-CA37-413C-9E7E-DB147FDB97D9}" type="pres">
      <dgm:prSet presAssocID="{3D328F76-064F-4046-8DD4-F8C3217DC21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754C6A9D-5F7D-418B-A8C5-6320122B3781}" type="pres">
      <dgm:prSet presAssocID="{3D328F76-064F-4046-8DD4-F8C3217DC21C}" presName="spaceRect" presStyleCnt="0"/>
      <dgm:spPr/>
    </dgm:pt>
    <dgm:pt modelId="{AC7F6C1C-401F-4031-83FA-F8E916082C89}" type="pres">
      <dgm:prSet presAssocID="{3D328F76-064F-4046-8DD4-F8C3217DC21C}" presName="parTx" presStyleLbl="revTx" presStyleIdx="0" presStyleCnt="4">
        <dgm:presLayoutVars>
          <dgm:chMax val="0"/>
          <dgm:chPref val="0"/>
        </dgm:presLayoutVars>
      </dgm:prSet>
      <dgm:spPr/>
    </dgm:pt>
    <dgm:pt modelId="{12E9EF69-842B-4481-B595-26355F918C7E}" type="pres">
      <dgm:prSet presAssocID="{8143D759-F522-46F7-AA83-6772DB23E6A8}" presName="sibTrans" presStyleCnt="0"/>
      <dgm:spPr/>
    </dgm:pt>
    <dgm:pt modelId="{E4DC1DA5-8B73-47C3-A8CC-45331820D485}" type="pres">
      <dgm:prSet presAssocID="{1590643E-81DD-40D3-928E-961792734911}" presName="compNode" presStyleCnt="0"/>
      <dgm:spPr/>
    </dgm:pt>
    <dgm:pt modelId="{B138D6F5-ADAD-4207-B019-3255F43928D8}" type="pres">
      <dgm:prSet presAssocID="{1590643E-81DD-40D3-928E-961792734911}" presName="bgRect" presStyleLbl="bgShp" presStyleIdx="1" presStyleCnt="4"/>
      <dgm:spPr/>
    </dgm:pt>
    <dgm:pt modelId="{ECA00F07-3BD4-453E-8858-CD2F7B7FEA6D}" type="pres">
      <dgm:prSet presAssocID="{1590643E-81DD-40D3-928E-96179273491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D76D92C-D9AC-48FC-B822-E50681E6EAFD}" type="pres">
      <dgm:prSet presAssocID="{1590643E-81DD-40D3-928E-961792734911}" presName="spaceRect" presStyleCnt="0"/>
      <dgm:spPr/>
    </dgm:pt>
    <dgm:pt modelId="{F6731222-83E4-4586-B4D3-70AC06624E13}" type="pres">
      <dgm:prSet presAssocID="{1590643E-81DD-40D3-928E-961792734911}" presName="parTx" presStyleLbl="revTx" presStyleIdx="1" presStyleCnt="4">
        <dgm:presLayoutVars>
          <dgm:chMax val="0"/>
          <dgm:chPref val="0"/>
        </dgm:presLayoutVars>
      </dgm:prSet>
      <dgm:spPr/>
    </dgm:pt>
    <dgm:pt modelId="{547001FC-EE8B-49EA-8ADA-48879473637C}" type="pres">
      <dgm:prSet presAssocID="{5D2BDE5F-8477-4D4C-88A1-50EEB65DABFB}" presName="sibTrans" presStyleCnt="0"/>
      <dgm:spPr/>
    </dgm:pt>
    <dgm:pt modelId="{84813FE6-4CC9-4568-B906-7F9B9A56E3A8}" type="pres">
      <dgm:prSet presAssocID="{CF18F95D-C8DD-4C75-8EC0-43C4DA734B2B}" presName="compNode" presStyleCnt="0"/>
      <dgm:spPr/>
    </dgm:pt>
    <dgm:pt modelId="{D945A548-F630-4804-A1C8-B0213D5251B5}" type="pres">
      <dgm:prSet presAssocID="{CF18F95D-C8DD-4C75-8EC0-43C4DA734B2B}" presName="bgRect" presStyleLbl="bgShp" presStyleIdx="2" presStyleCnt="4"/>
      <dgm:spPr/>
    </dgm:pt>
    <dgm:pt modelId="{606A562B-377E-4F2E-A411-043AC851E905}" type="pres">
      <dgm:prSet presAssocID="{CF18F95D-C8DD-4C75-8EC0-43C4DA734B2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9EE408DF-729F-4D78-9EBC-47B983496173}" type="pres">
      <dgm:prSet presAssocID="{CF18F95D-C8DD-4C75-8EC0-43C4DA734B2B}" presName="spaceRect" presStyleCnt="0"/>
      <dgm:spPr/>
    </dgm:pt>
    <dgm:pt modelId="{4A345EF5-6DD3-4F25-9E67-FAEDC756D978}" type="pres">
      <dgm:prSet presAssocID="{CF18F95D-C8DD-4C75-8EC0-43C4DA734B2B}" presName="parTx" presStyleLbl="revTx" presStyleIdx="2" presStyleCnt="4">
        <dgm:presLayoutVars>
          <dgm:chMax val="0"/>
          <dgm:chPref val="0"/>
        </dgm:presLayoutVars>
      </dgm:prSet>
      <dgm:spPr/>
    </dgm:pt>
    <dgm:pt modelId="{1F1629A7-E1BC-42B0-9DDB-8C2D1D17CF47}" type="pres">
      <dgm:prSet presAssocID="{2402F9DA-F161-4312-920B-C601F69BFD24}" presName="sibTrans" presStyleCnt="0"/>
      <dgm:spPr/>
    </dgm:pt>
    <dgm:pt modelId="{5B79B10B-E8E2-4178-B5D1-38139EE3A37F}" type="pres">
      <dgm:prSet presAssocID="{B6D63D77-B05D-4A1A-9A42-BB83849F4AA6}" presName="compNode" presStyleCnt="0"/>
      <dgm:spPr/>
    </dgm:pt>
    <dgm:pt modelId="{E77E8DF2-89A9-4068-8DCD-B50BFB2AD947}" type="pres">
      <dgm:prSet presAssocID="{B6D63D77-B05D-4A1A-9A42-BB83849F4AA6}" presName="bgRect" presStyleLbl="bgShp" presStyleIdx="3" presStyleCnt="4"/>
      <dgm:spPr/>
    </dgm:pt>
    <dgm:pt modelId="{86528D34-6C74-4F0F-A0A9-17B80CCDCA5D}" type="pres">
      <dgm:prSet presAssocID="{B6D63D77-B05D-4A1A-9A42-BB83849F4AA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7ACBD16-556B-4177-9B25-C21F0C01E244}" type="pres">
      <dgm:prSet presAssocID="{B6D63D77-B05D-4A1A-9A42-BB83849F4AA6}" presName="spaceRect" presStyleCnt="0"/>
      <dgm:spPr/>
    </dgm:pt>
    <dgm:pt modelId="{336108B4-D92C-4051-A39C-CFB40D86E190}" type="pres">
      <dgm:prSet presAssocID="{B6D63D77-B05D-4A1A-9A42-BB83849F4AA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466A614-DCC3-4261-95A0-E69CAD7D0009}" type="presOf" srcId="{1590643E-81DD-40D3-928E-961792734911}" destId="{F6731222-83E4-4586-B4D3-70AC06624E13}" srcOrd="0" destOrd="0" presId="urn:microsoft.com/office/officeart/2018/2/layout/IconVerticalSolidList"/>
    <dgm:cxn modelId="{1DD1621A-0BEE-4CC3-9996-E5474D769D19}" srcId="{CDA6757C-CCA8-4107-98F3-5624AA78811D}" destId="{1590643E-81DD-40D3-928E-961792734911}" srcOrd="1" destOrd="0" parTransId="{E2B8B3B7-A348-4BC2-BFC1-866715177381}" sibTransId="{5D2BDE5F-8477-4D4C-88A1-50EEB65DABFB}"/>
    <dgm:cxn modelId="{FFDDB21C-B91B-4D65-BAB8-04F3C175E5A2}" srcId="{CDA6757C-CCA8-4107-98F3-5624AA78811D}" destId="{CF18F95D-C8DD-4C75-8EC0-43C4DA734B2B}" srcOrd="2" destOrd="0" parTransId="{00ECC4B1-BB1E-45E6-8995-3C76886D4AA0}" sibTransId="{2402F9DA-F161-4312-920B-C601F69BFD24}"/>
    <dgm:cxn modelId="{9CC80C46-821D-4D10-BA2C-EE4A4D2FBB09}" type="presOf" srcId="{CF18F95D-C8DD-4C75-8EC0-43C4DA734B2B}" destId="{4A345EF5-6DD3-4F25-9E67-FAEDC756D978}" srcOrd="0" destOrd="0" presId="urn:microsoft.com/office/officeart/2018/2/layout/IconVerticalSolidList"/>
    <dgm:cxn modelId="{F3CEDD71-4234-4798-B169-225B1E4687CC}" type="presOf" srcId="{B6D63D77-B05D-4A1A-9A42-BB83849F4AA6}" destId="{336108B4-D92C-4051-A39C-CFB40D86E190}" srcOrd="0" destOrd="0" presId="urn:microsoft.com/office/officeart/2018/2/layout/IconVerticalSolidList"/>
    <dgm:cxn modelId="{77BA0153-7F82-43F0-96FB-BC750504F198}" srcId="{CDA6757C-CCA8-4107-98F3-5624AA78811D}" destId="{3D328F76-064F-4046-8DD4-F8C3217DC21C}" srcOrd="0" destOrd="0" parTransId="{924DFB37-22BD-4215-B819-6DA0632FA8F5}" sibTransId="{8143D759-F522-46F7-AA83-6772DB23E6A8}"/>
    <dgm:cxn modelId="{681F10CB-ECA1-4C2D-9EA3-7CD64EF41796}" srcId="{CDA6757C-CCA8-4107-98F3-5624AA78811D}" destId="{B6D63D77-B05D-4A1A-9A42-BB83849F4AA6}" srcOrd="3" destOrd="0" parTransId="{5CD7F81A-7E2A-4C60-A65E-A1BE4118FB4F}" sibTransId="{AD08FEEC-B650-4D4E-BA40-612EEBDEC386}"/>
    <dgm:cxn modelId="{B1B44CE2-8BBA-43CF-B23B-BC296525FB8C}" type="presOf" srcId="{CDA6757C-CCA8-4107-98F3-5624AA78811D}" destId="{638349B9-8CA7-4198-A50E-D7631B5A9520}" srcOrd="0" destOrd="0" presId="urn:microsoft.com/office/officeart/2018/2/layout/IconVerticalSolidList"/>
    <dgm:cxn modelId="{6216C3F2-36EC-4EDE-9CFE-4E60D944E80F}" type="presOf" srcId="{3D328F76-064F-4046-8DD4-F8C3217DC21C}" destId="{AC7F6C1C-401F-4031-83FA-F8E916082C89}" srcOrd="0" destOrd="0" presId="urn:microsoft.com/office/officeart/2018/2/layout/IconVerticalSolidList"/>
    <dgm:cxn modelId="{43F0DF1C-EEDC-486B-A7B1-35037C4CD882}" type="presParOf" srcId="{638349B9-8CA7-4198-A50E-D7631B5A9520}" destId="{5EEE399C-EC7B-401F-8AC7-52D069565941}" srcOrd="0" destOrd="0" presId="urn:microsoft.com/office/officeart/2018/2/layout/IconVerticalSolidList"/>
    <dgm:cxn modelId="{609B6F87-3B6E-4B26-B123-A664A76AAFE8}" type="presParOf" srcId="{5EEE399C-EC7B-401F-8AC7-52D069565941}" destId="{8CB9932B-5BE5-4636-9244-1E317DB9D487}" srcOrd="0" destOrd="0" presId="urn:microsoft.com/office/officeart/2018/2/layout/IconVerticalSolidList"/>
    <dgm:cxn modelId="{0A21AE78-4AD4-4C7B-B1D3-B959155F5C53}" type="presParOf" srcId="{5EEE399C-EC7B-401F-8AC7-52D069565941}" destId="{518BC0FC-CA37-413C-9E7E-DB147FDB97D9}" srcOrd="1" destOrd="0" presId="urn:microsoft.com/office/officeart/2018/2/layout/IconVerticalSolidList"/>
    <dgm:cxn modelId="{3B85731F-B0CE-4E20-9054-B36E9EC317A2}" type="presParOf" srcId="{5EEE399C-EC7B-401F-8AC7-52D069565941}" destId="{754C6A9D-5F7D-418B-A8C5-6320122B3781}" srcOrd="2" destOrd="0" presId="urn:microsoft.com/office/officeart/2018/2/layout/IconVerticalSolidList"/>
    <dgm:cxn modelId="{18FE255E-68D7-4405-B394-96421A94DDB0}" type="presParOf" srcId="{5EEE399C-EC7B-401F-8AC7-52D069565941}" destId="{AC7F6C1C-401F-4031-83FA-F8E916082C89}" srcOrd="3" destOrd="0" presId="urn:microsoft.com/office/officeart/2018/2/layout/IconVerticalSolidList"/>
    <dgm:cxn modelId="{D68B6DFF-0715-47F1-B476-828850B449C4}" type="presParOf" srcId="{638349B9-8CA7-4198-A50E-D7631B5A9520}" destId="{12E9EF69-842B-4481-B595-26355F918C7E}" srcOrd="1" destOrd="0" presId="urn:microsoft.com/office/officeart/2018/2/layout/IconVerticalSolidList"/>
    <dgm:cxn modelId="{EE779A29-B4D5-44F1-A7B4-79BA13ED42EF}" type="presParOf" srcId="{638349B9-8CA7-4198-A50E-D7631B5A9520}" destId="{E4DC1DA5-8B73-47C3-A8CC-45331820D485}" srcOrd="2" destOrd="0" presId="urn:microsoft.com/office/officeart/2018/2/layout/IconVerticalSolidList"/>
    <dgm:cxn modelId="{E8120D04-CDA8-4F7E-A834-FFC7CE40CD17}" type="presParOf" srcId="{E4DC1DA5-8B73-47C3-A8CC-45331820D485}" destId="{B138D6F5-ADAD-4207-B019-3255F43928D8}" srcOrd="0" destOrd="0" presId="urn:microsoft.com/office/officeart/2018/2/layout/IconVerticalSolidList"/>
    <dgm:cxn modelId="{F1D440C9-E92E-4B95-839E-39078F5DE92F}" type="presParOf" srcId="{E4DC1DA5-8B73-47C3-A8CC-45331820D485}" destId="{ECA00F07-3BD4-453E-8858-CD2F7B7FEA6D}" srcOrd="1" destOrd="0" presId="urn:microsoft.com/office/officeart/2018/2/layout/IconVerticalSolidList"/>
    <dgm:cxn modelId="{A4A5CB29-03B2-445D-99FD-71A428053F85}" type="presParOf" srcId="{E4DC1DA5-8B73-47C3-A8CC-45331820D485}" destId="{3D76D92C-D9AC-48FC-B822-E50681E6EAFD}" srcOrd="2" destOrd="0" presId="urn:microsoft.com/office/officeart/2018/2/layout/IconVerticalSolidList"/>
    <dgm:cxn modelId="{6C2ECAE8-687D-4528-9972-DA1439F5CB67}" type="presParOf" srcId="{E4DC1DA5-8B73-47C3-A8CC-45331820D485}" destId="{F6731222-83E4-4586-B4D3-70AC06624E13}" srcOrd="3" destOrd="0" presId="urn:microsoft.com/office/officeart/2018/2/layout/IconVerticalSolidList"/>
    <dgm:cxn modelId="{0AD47988-EEA9-40C0-9279-BF5035AA9D89}" type="presParOf" srcId="{638349B9-8CA7-4198-A50E-D7631B5A9520}" destId="{547001FC-EE8B-49EA-8ADA-48879473637C}" srcOrd="3" destOrd="0" presId="urn:microsoft.com/office/officeart/2018/2/layout/IconVerticalSolidList"/>
    <dgm:cxn modelId="{F98F492B-3C66-4A8D-BBE4-2E3DABC15018}" type="presParOf" srcId="{638349B9-8CA7-4198-A50E-D7631B5A9520}" destId="{84813FE6-4CC9-4568-B906-7F9B9A56E3A8}" srcOrd="4" destOrd="0" presId="urn:microsoft.com/office/officeart/2018/2/layout/IconVerticalSolidList"/>
    <dgm:cxn modelId="{0AFD1FC7-234D-452A-9B81-4C53426BAA4C}" type="presParOf" srcId="{84813FE6-4CC9-4568-B906-7F9B9A56E3A8}" destId="{D945A548-F630-4804-A1C8-B0213D5251B5}" srcOrd="0" destOrd="0" presId="urn:microsoft.com/office/officeart/2018/2/layout/IconVerticalSolidList"/>
    <dgm:cxn modelId="{CE11A7AE-54DF-4A58-BC0A-7B9F3739AD55}" type="presParOf" srcId="{84813FE6-4CC9-4568-B906-7F9B9A56E3A8}" destId="{606A562B-377E-4F2E-A411-043AC851E905}" srcOrd="1" destOrd="0" presId="urn:microsoft.com/office/officeart/2018/2/layout/IconVerticalSolidList"/>
    <dgm:cxn modelId="{A56BC71A-0D72-4C11-88CE-20CD467C1CD9}" type="presParOf" srcId="{84813FE6-4CC9-4568-B906-7F9B9A56E3A8}" destId="{9EE408DF-729F-4D78-9EBC-47B983496173}" srcOrd="2" destOrd="0" presId="urn:microsoft.com/office/officeart/2018/2/layout/IconVerticalSolidList"/>
    <dgm:cxn modelId="{66BD30AE-C731-497F-A1DD-C9835C10E002}" type="presParOf" srcId="{84813FE6-4CC9-4568-B906-7F9B9A56E3A8}" destId="{4A345EF5-6DD3-4F25-9E67-FAEDC756D978}" srcOrd="3" destOrd="0" presId="urn:microsoft.com/office/officeart/2018/2/layout/IconVerticalSolidList"/>
    <dgm:cxn modelId="{CBA44DC7-A600-4E03-BA09-EA2960358CB1}" type="presParOf" srcId="{638349B9-8CA7-4198-A50E-D7631B5A9520}" destId="{1F1629A7-E1BC-42B0-9DDB-8C2D1D17CF47}" srcOrd="5" destOrd="0" presId="urn:microsoft.com/office/officeart/2018/2/layout/IconVerticalSolidList"/>
    <dgm:cxn modelId="{BE830DAF-D903-489A-B8AA-4A00A9E5EC6C}" type="presParOf" srcId="{638349B9-8CA7-4198-A50E-D7631B5A9520}" destId="{5B79B10B-E8E2-4178-B5D1-38139EE3A37F}" srcOrd="6" destOrd="0" presId="urn:microsoft.com/office/officeart/2018/2/layout/IconVerticalSolidList"/>
    <dgm:cxn modelId="{93359504-5301-41DC-8653-D3D50F8A6158}" type="presParOf" srcId="{5B79B10B-E8E2-4178-B5D1-38139EE3A37F}" destId="{E77E8DF2-89A9-4068-8DCD-B50BFB2AD947}" srcOrd="0" destOrd="0" presId="urn:microsoft.com/office/officeart/2018/2/layout/IconVerticalSolidList"/>
    <dgm:cxn modelId="{FF5C9E44-5C7A-44F1-B400-2EF9A67C8183}" type="presParOf" srcId="{5B79B10B-E8E2-4178-B5D1-38139EE3A37F}" destId="{86528D34-6C74-4F0F-A0A9-17B80CCDCA5D}" srcOrd="1" destOrd="0" presId="urn:microsoft.com/office/officeart/2018/2/layout/IconVerticalSolidList"/>
    <dgm:cxn modelId="{E2FAF450-6FE6-416E-B5DC-9E8F046F18D2}" type="presParOf" srcId="{5B79B10B-E8E2-4178-B5D1-38139EE3A37F}" destId="{27ACBD16-556B-4177-9B25-C21F0C01E244}" srcOrd="2" destOrd="0" presId="urn:microsoft.com/office/officeart/2018/2/layout/IconVerticalSolidList"/>
    <dgm:cxn modelId="{B3901108-D04B-4036-9B9F-A8DAA3503DF0}" type="presParOf" srcId="{5B79B10B-E8E2-4178-B5D1-38139EE3A37F}" destId="{336108B4-D92C-4051-A39C-CFB40D86E19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CCB35F-32B2-481F-9199-E259E08C9F3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432EEFA-7242-4AA8-8D49-59B724D26B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Extend detection beyond plates and cards to include ID cards, handwritten notes, QR codes, and official documents.</a:t>
          </a:r>
        </a:p>
      </dgm:t>
    </dgm:pt>
    <dgm:pt modelId="{95E71956-BE80-4247-8A64-AEF310AA7B4F}" type="parTrans" cxnId="{D27587B3-BD67-497D-901F-EDB839CCE090}">
      <dgm:prSet/>
      <dgm:spPr/>
      <dgm:t>
        <a:bodyPr/>
        <a:lstStyle/>
        <a:p>
          <a:endParaRPr lang="en-US"/>
        </a:p>
      </dgm:t>
    </dgm:pt>
    <dgm:pt modelId="{D1C29BF5-1FCA-42CD-8F0B-B4379EC6A547}" type="sibTrans" cxnId="{D27587B3-BD67-497D-901F-EDB839CCE090}">
      <dgm:prSet/>
      <dgm:spPr/>
      <dgm:t>
        <a:bodyPr/>
        <a:lstStyle/>
        <a:p>
          <a:endParaRPr lang="en-US"/>
        </a:p>
      </dgm:t>
    </dgm:pt>
    <dgm:pt modelId="{54712FCE-44BD-464B-9E8B-8184306BAD7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Use lighter YOLO </a:t>
          </a:r>
          <a:r>
            <a:rPr lang="en-US" sz="1800" b="0" dirty="0"/>
            <a:t>versions</a:t>
          </a:r>
          <a:r>
            <a:rPr lang="en-US" b="0" dirty="0"/>
            <a:t>, model pruning, and compression for faster results.</a:t>
          </a:r>
        </a:p>
      </dgm:t>
    </dgm:pt>
    <dgm:pt modelId="{9EE0F77B-90DA-4134-912A-7DB1002013B9}" type="parTrans" cxnId="{E8BA426F-7A32-4CC1-8EE9-6A091D756CB1}">
      <dgm:prSet/>
      <dgm:spPr/>
      <dgm:t>
        <a:bodyPr/>
        <a:lstStyle/>
        <a:p>
          <a:endParaRPr lang="en-US"/>
        </a:p>
      </dgm:t>
    </dgm:pt>
    <dgm:pt modelId="{AC243816-258D-44A3-B94E-85DB22078928}" type="sibTrans" cxnId="{E8BA426F-7A32-4CC1-8EE9-6A091D756CB1}">
      <dgm:prSet/>
      <dgm:spPr/>
      <dgm:t>
        <a:bodyPr/>
        <a:lstStyle/>
        <a:p>
          <a:endParaRPr lang="en-US"/>
        </a:p>
      </dgm:t>
    </dgm:pt>
    <dgm:pt modelId="{B8435EE6-7486-45F9-AC48-B3CDCD24A0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Ensure smooth real-time on-mobile processing even on low-end smartphones.</a:t>
          </a:r>
        </a:p>
      </dgm:t>
    </dgm:pt>
    <dgm:pt modelId="{FB600DA9-68F6-4480-BE68-8853DDB4363F}" type="parTrans" cxnId="{39F73121-ADE8-44AF-AC1F-1351D47E720E}">
      <dgm:prSet/>
      <dgm:spPr/>
      <dgm:t>
        <a:bodyPr/>
        <a:lstStyle/>
        <a:p>
          <a:endParaRPr lang="en-US"/>
        </a:p>
      </dgm:t>
    </dgm:pt>
    <dgm:pt modelId="{F0F2192B-2F46-4A2F-B197-0DA390AA6DB9}" type="sibTrans" cxnId="{39F73121-ADE8-44AF-AC1F-1351D47E720E}">
      <dgm:prSet/>
      <dgm:spPr/>
      <dgm:t>
        <a:bodyPr/>
        <a:lstStyle/>
        <a:p>
          <a:endParaRPr lang="en-US"/>
        </a:p>
      </dgm:t>
    </dgm:pt>
    <dgm:pt modelId="{E8F95E63-E3B2-4920-9D39-D10CD67572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Integrate into OLX, PakWheels, or other platforms for automatic privacy protection in user-uploaded images.</a:t>
          </a:r>
        </a:p>
      </dgm:t>
    </dgm:pt>
    <dgm:pt modelId="{1FFF56B7-BF65-42D2-BBF1-68D5DF3A5CEB}" type="parTrans" cxnId="{E3101DF9-C945-467A-9707-E020D480FD9D}">
      <dgm:prSet/>
      <dgm:spPr/>
      <dgm:t>
        <a:bodyPr/>
        <a:lstStyle/>
        <a:p>
          <a:endParaRPr lang="en-US"/>
        </a:p>
      </dgm:t>
    </dgm:pt>
    <dgm:pt modelId="{06F36121-AF77-4D8D-9E19-A42BA262CE47}" type="sibTrans" cxnId="{E3101DF9-C945-467A-9707-E020D480FD9D}">
      <dgm:prSet/>
      <dgm:spPr/>
      <dgm:t>
        <a:bodyPr/>
        <a:lstStyle/>
        <a:p>
          <a:endParaRPr lang="en-US"/>
        </a:p>
      </dgm:t>
    </dgm:pt>
    <dgm:pt modelId="{61ACDEBF-F932-4F15-970D-FCC66AF886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Add features like customizable masking styles, multilingual OCR, and voice commands.</a:t>
          </a:r>
        </a:p>
      </dgm:t>
    </dgm:pt>
    <dgm:pt modelId="{2C51AA09-BE52-4892-875C-AA8C1ACAE29D}" type="parTrans" cxnId="{8922D7DA-4F83-4D11-8703-B372F39E3ED5}">
      <dgm:prSet/>
      <dgm:spPr/>
      <dgm:t>
        <a:bodyPr/>
        <a:lstStyle/>
        <a:p>
          <a:endParaRPr lang="en-US"/>
        </a:p>
      </dgm:t>
    </dgm:pt>
    <dgm:pt modelId="{1413F570-528C-4906-BFAD-5D6001F30CB5}" type="sibTrans" cxnId="{8922D7DA-4F83-4D11-8703-B372F39E3ED5}">
      <dgm:prSet/>
      <dgm:spPr/>
      <dgm:t>
        <a:bodyPr/>
        <a:lstStyle/>
        <a:p>
          <a:endParaRPr lang="en-US"/>
        </a:p>
      </dgm:t>
    </dgm:pt>
    <dgm:pt modelId="{A512E679-AE60-40F1-9149-F8AF7B2949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Research to be continued</a:t>
          </a:r>
        </a:p>
      </dgm:t>
    </dgm:pt>
    <dgm:pt modelId="{A34135E3-5D48-4174-A542-FF04A88587BA}" type="parTrans" cxnId="{808CEA6B-E43F-48D0-89C7-334F0CB83C81}">
      <dgm:prSet/>
      <dgm:spPr/>
      <dgm:t>
        <a:bodyPr/>
        <a:lstStyle/>
        <a:p>
          <a:endParaRPr lang="en-US"/>
        </a:p>
      </dgm:t>
    </dgm:pt>
    <dgm:pt modelId="{9F9EDADE-8D5E-4A8B-96C8-7B3DC9254AAE}" type="sibTrans" cxnId="{808CEA6B-E43F-48D0-89C7-334F0CB83C81}">
      <dgm:prSet/>
      <dgm:spPr/>
      <dgm:t>
        <a:bodyPr/>
        <a:lstStyle/>
        <a:p>
          <a:endParaRPr lang="en-US"/>
        </a:p>
      </dgm:t>
    </dgm:pt>
    <dgm:pt modelId="{C017E157-6A66-4676-BA87-5BB172EF0B74}" type="pres">
      <dgm:prSet presAssocID="{70CCB35F-32B2-481F-9199-E259E08C9F34}" presName="root" presStyleCnt="0">
        <dgm:presLayoutVars>
          <dgm:dir/>
          <dgm:resizeHandles val="exact"/>
        </dgm:presLayoutVars>
      </dgm:prSet>
      <dgm:spPr/>
    </dgm:pt>
    <dgm:pt modelId="{9A2DB4F2-27DC-45E2-B480-018ED91C190E}" type="pres">
      <dgm:prSet presAssocID="{3432EEFA-7242-4AA8-8D49-59B724D26B31}" presName="compNode" presStyleCnt="0"/>
      <dgm:spPr/>
    </dgm:pt>
    <dgm:pt modelId="{11EB2443-D28C-4256-8B62-498452FC37D4}" type="pres">
      <dgm:prSet presAssocID="{3432EEFA-7242-4AA8-8D49-59B724D26B31}" presName="bgRect" presStyleLbl="bgShp" presStyleIdx="0" presStyleCnt="6"/>
      <dgm:spPr/>
    </dgm:pt>
    <dgm:pt modelId="{6C70ED97-21F4-4BC0-9972-92A546ADA1B8}" type="pres">
      <dgm:prSet presAssocID="{3432EEFA-7242-4AA8-8D49-59B724D26B31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6A57B4F7-4BF4-47E9-B0CA-81EC4E366627}" type="pres">
      <dgm:prSet presAssocID="{3432EEFA-7242-4AA8-8D49-59B724D26B31}" presName="spaceRect" presStyleCnt="0"/>
      <dgm:spPr/>
    </dgm:pt>
    <dgm:pt modelId="{A00911CB-53B3-4A43-897B-3F21535B492A}" type="pres">
      <dgm:prSet presAssocID="{3432EEFA-7242-4AA8-8D49-59B724D26B31}" presName="parTx" presStyleLbl="revTx" presStyleIdx="0" presStyleCnt="6">
        <dgm:presLayoutVars>
          <dgm:chMax val="0"/>
          <dgm:chPref val="0"/>
        </dgm:presLayoutVars>
      </dgm:prSet>
      <dgm:spPr/>
    </dgm:pt>
    <dgm:pt modelId="{4D8B39A6-D4B2-40EA-8AA7-3E8DF9681E58}" type="pres">
      <dgm:prSet presAssocID="{D1C29BF5-1FCA-42CD-8F0B-B4379EC6A547}" presName="sibTrans" presStyleCnt="0"/>
      <dgm:spPr/>
    </dgm:pt>
    <dgm:pt modelId="{5DCF9482-9E23-4C8F-BA1A-F53620B287D9}" type="pres">
      <dgm:prSet presAssocID="{54712FCE-44BD-464B-9E8B-8184306BAD78}" presName="compNode" presStyleCnt="0"/>
      <dgm:spPr/>
    </dgm:pt>
    <dgm:pt modelId="{9A827BF4-547E-4078-AEE3-47673D63E04D}" type="pres">
      <dgm:prSet presAssocID="{54712FCE-44BD-464B-9E8B-8184306BAD78}" presName="bgRect" presStyleLbl="bgShp" presStyleIdx="1" presStyleCnt="6"/>
      <dgm:spPr/>
    </dgm:pt>
    <dgm:pt modelId="{04C7CFE3-F6E4-42FF-9D43-BFD824A6DA7B}" type="pres">
      <dgm:prSet presAssocID="{54712FCE-44BD-464B-9E8B-8184306BAD78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879159CC-2132-41DC-B80B-4DF9E1C55C7C}" type="pres">
      <dgm:prSet presAssocID="{54712FCE-44BD-464B-9E8B-8184306BAD78}" presName="spaceRect" presStyleCnt="0"/>
      <dgm:spPr/>
    </dgm:pt>
    <dgm:pt modelId="{29D33CCA-8E48-4E2B-9D9A-27CFC31456D9}" type="pres">
      <dgm:prSet presAssocID="{54712FCE-44BD-464B-9E8B-8184306BAD78}" presName="parTx" presStyleLbl="revTx" presStyleIdx="1" presStyleCnt="6">
        <dgm:presLayoutVars>
          <dgm:chMax val="0"/>
          <dgm:chPref val="0"/>
        </dgm:presLayoutVars>
      </dgm:prSet>
      <dgm:spPr/>
    </dgm:pt>
    <dgm:pt modelId="{EC015BFB-C6BB-4DAB-AC5D-0B8523863863}" type="pres">
      <dgm:prSet presAssocID="{AC243816-258D-44A3-B94E-85DB22078928}" presName="sibTrans" presStyleCnt="0"/>
      <dgm:spPr/>
    </dgm:pt>
    <dgm:pt modelId="{49E2347E-02FE-46B1-951A-77EEF850F9D5}" type="pres">
      <dgm:prSet presAssocID="{B8435EE6-7486-45F9-AC48-B3CDCD24A05B}" presName="compNode" presStyleCnt="0"/>
      <dgm:spPr/>
    </dgm:pt>
    <dgm:pt modelId="{152FBEB1-70F6-44D8-A0F6-B41D9453C035}" type="pres">
      <dgm:prSet presAssocID="{B8435EE6-7486-45F9-AC48-B3CDCD24A05B}" presName="bgRect" presStyleLbl="bgShp" presStyleIdx="2" presStyleCnt="6"/>
      <dgm:spPr/>
    </dgm:pt>
    <dgm:pt modelId="{6B73BE96-D10D-4F5A-AF16-B9C1187DA6BC}" type="pres">
      <dgm:prSet presAssocID="{B8435EE6-7486-45F9-AC48-B3CDCD24A05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E0DEF1DC-F0C9-49A5-BA19-6275A228A65E}" type="pres">
      <dgm:prSet presAssocID="{B8435EE6-7486-45F9-AC48-B3CDCD24A05B}" presName="spaceRect" presStyleCnt="0"/>
      <dgm:spPr/>
    </dgm:pt>
    <dgm:pt modelId="{B1B13443-4123-488B-8190-DA0DF16753A4}" type="pres">
      <dgm:prSet presAssocID="{B8435EE6-7486-45F9-AC48-B3CDCD24A05B}" presName="parTx" presStyleLbl="revTx" presStyleIdx="2" presStyleCnt="6">
        <dgm:presLayoutVars>
          <dgm:chMax val="0"/>
          <dgm:chPref val="0"/>
        </dgm:presLayoutVars>
      </dgm:prSet>
      <dgm:spPr/>
    </dgm:pt>
    <dgm:pt modelId="{752C16B6-095F-4F24-A486-091372348B46}" type="pres">
      <dgm:prSet presAssocID="{F0F2192B-2F46-4A2F-B197-0DA390AA6DB9}" presName="sibTrans" presStyleCnt="0"/>
      <dgm:spPr/>
    </dgm:pt>
    <dgm:pt modelId="{67D39E80-70C1-41B0-891F-10B6F2C3E704}" type="pres">
      <dgm:prSet presAssocID="{E8F95E63-E3B2-4920-9D39-D10CD67572E1}" presName="compNode" presStyleCnt="0"/>
      <dgm:spPr/>
    </dgm:pt>
    <dgm:pt modelId="{48043B67-AD0A-4020-A0BB-63EB518B29A3}" type="pres">
      <dgm:prSet presAssocID="{E8F95E63-E3B2-4920-9D39-D10CD67572E1}" presName="bgRect" presStyleLbl="bgShp" presStyleIdx="3" presStyleCnt="6"/>
      <dgm:spPr/>
    </dgm:pt>
    <dgm:pt modelId="{1E516C7A-B394-4DBB-982E-A6D180CE8CEC}" type="pres">
      <dgm:prSet presAssocID="{E8F95E63-E3B2-4920-9D39-D10CD67572E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bow"/>
        </a:ext>
      </dgm:extLst>
    </dgm:pt>
    <dgm:pt modelId="{474F8724-5E27-4B49-AF43-140EF2E68B1E}" type="pres">
      <dgm:prSet presAssocID="{E8F95E63-E3B2-4920-9D39-D10CD67572E1}" presName="spaceRect" presStyleCnt="0"/>
      <dgm:spPr/>
    </dgm:pt>
    <dgm:pt modelId="{E72449DB-5FE9-4382-9BF6-DAB70CCB0BB5}" type="pres">
      <dgm:prSet presAssocID="{E8F95E63-E3B2-4920-9D39-D10CD67572E1}" presName="parTx" presStyleLbl="revTx" presStyleIdx="3" presStyleCnt="6">
        <dgm:presLayoutVars>
          <dgm:chMax val="0"/>
          <dgm:chPref val="0"/>
        </dgm:presLayoutVars>
      </dgm:prSet>
      <dgm:spPr/>
    </dgm:pt>
    <dgm:pt modelId="{465C6142-530F-47D6-9F8B-21A28D837D03}" type="pres">
      <dgm:prSet presAssocID="{06F36121-AF77-4D8D-9E19-A42BA262CE47}" presName="sibTrans" presStyleCnt="0"/>
      <dgm:spPr/>
    </dgm:pt>
    <dgm:pt modelId="{8B3D2184-1ABF-431E-96BE-EA2AB7D332DC}" type="pres">
      <dgm:prSet presAssocID="{61ACDEBF-F932-4F15-970D-FCC66AF886C7}" presName="compNode" presStyleCnt="0"/>
      <dgm:spPr/>
    </dgm:pt>
    <dgm:pt modelId="{A27613F2-6136-434C-B70A-23AE2CC38A92}" type="pres">
      <dgm:prSet presAssocID="{61ACDEBF-F932-4F15-970D-FCC66AF886C7}" presName="bgRect" presStyleLbl="bgShp" presStyleIdx="4" presStyleCnt="6"/>
      <dgm:spPr/>
    </dgm:pt>
    <dgm:pt modelId="{6DD0AA85-9FE9-4BAA-A762-B996E665E1B4}" type="pres">
      <dgm:prSet presAssocID="{61ACDEBF-F932-4F15-970D-FCC66AF886C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A54CA413-7B49-41F0-9758-20B087CEE83C}" type="pres">
      <dgm:prSet presAssocID="{61ACDEBF-F932-4F15-970D-FCC66AF886C7}" presName="spaceRect" presStyleCnt="0"/>
      <dgm:spPr/>
    </dgm:pt>
    <dgm:pt modelId="{27E18887-791F-449E-B3E0-A9E14DB590DC}" type="pres">
      <dgm:prSet presAssocID="{61ACDEBF-F932-4F15-970D-FCC66AF886C7}" presName="parTx" presStyleLbl="revTx" presStyleIdx="4" presStyleCnt="6">
        <dgm:presLayoutVars>
          <dgm:chMax val="0"/>
          <dgm:chPref val="0"/>
        </dgm:presLayoutVars>
      </dgm:prSet>
      <dgm:spPr/>
    </dgm:pt>
    <dgm:pt modelId="{10A17F6C-88C3-456E-A932-EE515E165791}" type="pres">
      <dgm:prSet presAssocID="{1413F570-528C-4906-BFAD-5D6001F30CB5}" presName="sibTrans" presStyleCnt="0"/>
      <dgm:spPr/>
    </dgm:pt>
    <dgm:pt modelId="{40BC2764-F672-4A56-A173-10420E68F50A}" type="pres">
      <dgm:prSet presAssocID="{A512E679-AE60-40F1-9149-F8AF7B294951}" presName="compNode" presStyleCnt="0"/>
      <dgm:spPr/>
    </dgm:pt>
    <dgm:pt modelId="{9D265F15-2564-4A01-A4C0-4CAB23280CB3}" type="pres">
      <dgm:prSet presAssocID="{A512E679-AE60-40F1-9149-F8AF7B294951}" presName="bgRect" presStyleLbl="bgShp" presStyleIdx="5" presStyleCnt="6"/>
      <dgm:spPr/>
    </dgm:pt>
    <dgm:pt modelId="{51C6D71E-BE07-443F-A165-79EC7D914FA4}" type="pres">
      <dgm:prSet presAssocID="{A512E679-AE60-40F1-9149-F8AF7B29495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184C399E-10BA-4E67-9C36-9BECFD760906}" type="pres">
      <dgm:prSet presAssocID="{A512E679-AE60-40F1-9149-F8AF7B294951}" presName="spaceRect" presStyleCnt="0"/>
      <dgm:spPr/>
    </dgm:pt>
    <dgm:pt modelId="{0DC8D234-23E5-4C0F-8B19-FA413DB2B338}" type="pres">
      <dgm:prSet presAssocID="{A512E679-AE60-40F1-9149-F8AF7B294951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37F8CC07-5A3B-4F2B-A790-EFD9FD42FD82}" type="presOf" srcId="{B8435EE6-7486-45F9-AC48-B3CDCD24A05B}" destId="{B1B13443-4123-488B-8190-DA0DF16753A4}" srcOrd="0" destOrd="0" presId="urn:microsoft.com/office/officeart/2018/2/layout/IconVerticalSolidList"/>
    <dgm:cxn modelId="{39F73121-ADE8-44AF-AC1F-1351D47E720E}" srcId="{70CCB35F-32B2-481F-9199-E259E08C9F34}" destId="{B8435EE6-7486-45F9-AC48-B3CDCD24A05B}" srcOrd="2" destOrd="0" parTransId="{FB600DA9-68F6-4480-BE68-8853DDB4363F}" sibTransId="{F0F2192B-2F46-4A2F-B197-0DA390AA6DB9}"/>
    <dgm:cxn modelId="{09EC8B22-49F7-4F99-B421-4028A70D7606}" type="presOf" srcId="{54712FCE-44BD-464B-9E8B-8184306BAD78}" destId="{29D33CCA-8E48-4E2B-9D9A-27CFC31456D9}" srcOrd="0" destOrd="0" presId="urn:microsoft.com/office/officeart/2018/2/layout/IconVerticalSolidList"/>
    <dgm:cxn modelId="{808CEA6B-E43F-48D0-89C7-334F0CB83C81}" srcId="{70CCB35F-32B2-481F-9199-E259E08C9F34}" destId="{A512E679-AE60-40F1-9149-F8AF7B294951}" srcOrd="5" destOrd="0" parTransId="{A34135E3-5D48-4174-A542-FF04A88587BA}" sibTransId="{9F9EDADE-8D5E-4A8B-96C8-7B3DC9254AAE}"/>
    <dgm:cxn modelId="{E8BA426F-7A32-4CC1-8EE9-6A091D756CB1}" srcId="{70CCB35F-32B2-481F-9199-E259E08C9F34}" destId="{54712FCE-44BD-464B-9E8B-8184306BAD78}" srcOrd="1" destOrd="0" parTransId="{9EE0F77B-90DA-4134-912A-7DB1002013B9}" sibTransId="{AC243816-258D-44A3-B94E-85DB22078928}"/>
    <dgm:cxn modelId="{4725327A-0181-4696-9643-156A2E9D9CB8}" type="presOf" srcId="{A512E679-AE60-40F1-9149-F8AF7B294951}" destId="{0DC8D234-23E5-4C0F-8B19-FA413DB2B338}" srcOrd="0" destOrd="0" presId="urn:microsoft.com/office/officeart/2018/2/layout/IconVerticalSolidList"/>
    <dgm:cxn modelId="{F41AC080-CA87-4188-BF0F-E60D606ABA03}" type="presOf" srcId="{E8F95E63-E3B2-4920-9D39-D10CD67572E1}" destId="{E72449DB-5FE9-4382-9BF6-DAB70CCB0BB5}" srcOrd="0" destOrd="0" presId="urn:microsoft.com/office/officeart/2018/2/layout/IconVerticalSolidList"/>
    <dgm:cxn modelId="{D27587B3-BD67-497D-901F-EDB839CCE090}" srcId="{70CCB35F-32B2-481F-9199-E259E08C9F34}" destId="{3432EEFA-7242-4AA8-8D49-59B724D26B31}" srcOrd="0" destOrd="0" parTransId="{95E71956-BE80-4247-8A64-AEF310AA7B4F}" sibTransId="{D1C29BF5-1FCA-42CD-8F0B-B4379EC6A547}"/>
    <dgm:cxn modelId="{D8C0E6B9-86FB-4A41-8909-A50B6F79907C}" type="presOf" srcId="{61ACDEBF-F932-4F15-970D-FCC66AF886C7}" destId="{27E18887-791F-449E-B3E0-A9E14DB590DC}" srcOrd="0" destOrd="0" presId="urn:microsoft.com/office/officeart/2018/2/layout/IconVerticalSolidList"/>
    <dgm:cxn modelId="{EFA0E0D3-98CE-42D3-B45D-1BA3C80632F1}" type="presOf" srcId="{70CCB35F-32B2-481F-9199-E259E08C9F34}" destId="{C017E157-6A66-4676-BA87-5BB172EF0B74}" srcOrd="0" destOrd="0" presId="urn:microsoft.com/office/officeart/2018/2/layout/IconVerticalSolidList"/>
    <dgm:cxn modelId="{8922D7DA-4F83-4D11-8703-B372F39E3ED5}" srcId="{70CCB35F-32B2-481F-9199-E259E08C9F34}" destId="{61ACDEBF-F932-4F15-970D-FCC66AF886C7}" srcOrd="4" destOrd="0" parTransId="{2C51AA09-BE52-4892-875C-AA8C1ACAE29D}" sibTransId="{1413F570-528C-4906-BFAD-5D6001F30CB5}"/>
    <dgm:cxn modelId="{32979BE5-5FD4-4F1C-A6BE-DC0FB72C3CF0}" type="presOf" srcId="{3432EEFA-7242-4AA8-8D49-59B724D26B31}" destId="{A00911CB-53B3-4A43-897B-3F21535B492A}" srcOrd="0" destOrd="0" presId="urn:microsoft.com/office/officeart/2018/2/layout/IconVerticalSolidList"/>
    <dgm:cxn modelId="{E3101DF9-C945-467A-9707-E020D480FD9D}" srcId="{70CCB35F-32B2-481F-9199-E259E08C9F34}" destId="{E8F95E63-E3B2-4920-9D39-D10CD67572E1}" srcOrd="3" destOrd="0" parTransId="{1FFF56B7-BF65-42D2-BBF1-68D5DF3A5CEB}" sibTransId="{06F36121-AF77-4D8D-9E19-A42BA262CE47}"/>
    <dgm:cxn modelId="{1A6CFDDB-7A6E-4F8A-8B91-C30169B3A4EB}" type="presParOf" srcId="{C017E157-6A66-4676-BA87-5BB172EF0B74}" destId="{9A2DB4F2-27DC-45E2-B480-018ED91C190E}" srcOrd="0" destOrd="0" presId="urn:microsoft.com/office/officeart/2018/2/layout/IconVerticalSolidList"/>
    <dgm:cxn modelId="{840664F9-1591-4A7E-8751-BA53594BEF73}" type="presParOf" srcId="{9A2DB4F2-27DC-45E2-B480-018ED91C190E}" destId="{11EB2443-D28C-4256-8B62-498452FC37D4}" srcOrd="0" destOrd="0" presId="urn:microsoft.com/office/officeart/2018/2/layout/IconVerticalSolidList"/>
    <dgm:cxn modelId="{6AB672FF-6371-46A3-9F80-3CA57057CEE8}" type="presParOf" srcId="{9A2DB4F2-27DC-45E2-B480-018ED91C190E}" destId="{6C70ED97-21F4-4BC0-9972-92A546ADA1B8}" srcOrd="1" destOrd="0" presId="urn:microsoft.com/office/officeart/2018/2/layout/IconVerticalSolidList"/>
    <dgm:cxn modelId="{1F315305-ED6F-4508-A23E-0E1D7010062D}" type="presParOf" srcId="{9A2DB4F2-27DC-45E2-B480-018ED91C190E}" destId="{6A57B4F7-4BF4-47E9-B0CA-81EC4E366627}" srcOrd="2" destOrd="0" presId="urn:microsoft.com/office/officeart/2018/2/layout/IconVerticalSolidList"/>
    <dgm:cxn modelId="{4BBD6B21-6EE7-411D-8E3B-2B7066F04256}" type="presParOf" srcId="{9A2DB4F2-27DC-45E2-B480-018ED91C190E}" destId="{A00911CB-53B3-4A43-897B-3F21535B492A}" srcOrd="3" destOrd="0" presId="urn:microsoft.com/office/officeart/2018/2/layout/IconVerticalSolidList"/>
    <dgm:cxn modelId="{48FB5857-203D-4F53-BD46-E909F3239375}" type="presParOf" srcId="{C017E157-6A66-4676-BA87-5BB172EF0B74}" destId="{4D8B39A6-D4B2-40EA-8AA7-3E8DF9681E58}" srcOrd="1" destOrd="0" presId="urn:microsoft.com/office/officeart/2018/2/layout/IconVerticalSolidList"/>
    <dgm:cxn modelId="{361D64E5-E638-4AE0-830B-3000E07B9F8D}" type="presParOf" srcId="{C017E157-6A66-4676-BA87-5BB172EF0B74}" destId="{5DCF9482-9E23-4C8F-BA1A-F53620B287D9}" srcOrd="2" destOrd="0" presId="urn:microsoft.com/office/officeart/2018/2/layout/IconVerticalSolidList"/>
    <dgm:cxn modelId="{7EAE78E2-00C0-4C58-8908-217B9EA23EEF}" type="presParOf" srcId="{5DCF9482-9E23-4C8F-BA1A-F53620B287D9}" destId="{9A827BF4-547E-4078-AEE3-47673D63E04D}" srcOrd="0" destOrd="0" presId="urn:microsoft.com/office/officeart/2018/2/layout/IconVerticalSolidList"/>
    <dgm:cxn modelId="{304B02FE-4565-4AA2-91FB-42933F2F8EA8}" type="presParOf" srcId="{5DCF9482-9E23-4C8F-BA1A-F53620B287D9}" destId="{04C7CFE3-F6E4-42FF-9D43-BFD824A6DA7B}" srcOrd="1" destOrd="0" presId="urn:microsoft.com/office/officeart/2018/2/layout/IconVerticalSolidList"/>
    <dgm:cxn modelId="{80E20910-ED64-465F-B882-E5706DA6814D}" type="presParOf" srcId="{5DCF9482-9E23-4C8F-BA1A-F53620B287D9}" destId="{879159CC-2132-41DC-B80B-4DF9E1C55C7C}" srcOrd="2" destOrd="0" presId="urn:microsoft.com/office/officeart/2018/2/layout/IconVerticalSolidList"/>
    <dgm:cxn modelId="{BA42E20A-DCC6-427A-AFD2-5087D10920ED}" type="presParOf" srcId="{5DCF9482-9E23-4C8F-BA1A-F53620B287D9}" destId="{29D33CCA-8E48-4E2B-9D9A-27CFC31456D9}" srcOrd="3" destOrd="0" presId="urn:microsoft.com/office/officeart/2018/2/layout/IconVerticalSolidList"/>
    <dgm:cxn modelId="{B62D33EE-96FA-4B92-8A4C-71DBB16AA61A}" type="presParOf" srcId="{C017E157-6A66-4676-BA87-5BB172EF0B74}" destId="{EC015BFB-C6BB-4DAB-AC5D-0B8523863863}" srcOrd="3" destOrd="0" presId="urn:microsoft.com/office/officeart/2018/2/layout/IconVerticalSolidList"/>
    <dgm:cxn modelId="{4C28088C-700F-4D10-B7BD-5707840230C5}" type="presParOf" srcId="{C017E157-6A66-4676-BA87-5BB172EF0B74}" destId="{49E2347E-02FE-46B1-951A-77EEF850F9D5}" srcOrd="4" destOrd="0" presId="urn:microsoft.com/office/officeart/2018/2/layout/IconVerticalSolidList"/>
    <dgm:cxn modelId="{6DF5C441-E038-438D-A98E-DE5CA86A5F64}" type="presParOf" srcId="{49E2347E-02FE-46B1-951A-77EEF850F9D5}" destId="{152FBEB1-70F6-44D8-A0F6-B41D9453C035}" srcOrd="0" destOrd="0" presId="urn:microsoft.com/office/officeart/2018/2/layout/IconVerticalSolidList"/>
    <dgm:cxn modelId="{E71CD439-6EF5-4C40-BD3C-A19A974CEBF0}" type="presParOf" srcId="{49E2347E-02FE-46B1-951A-77EEF850F9D5}" destId="{6B73BE96-D10D-4F5A-AF16-B9C1187DA6BC}" srcOrd="1" destOrd="0" presId="urn:microsoft.com/office/officeart/2018/2/layout/IconVerticalSolidList"/>
    <dgm:cxn modelId="{C7FE77CD-8322-45DF-ADA3-E8F4FB49480A}" type="presParOf" srcId="{49E2347E-02FE-46B1-951A-77EEF850F9D5}" destId="{E0DEF1DC-F0C9-49A5-BA19-6275A228A65E}" srcOrd="2" destOrd="0" presId="urn:microsoft.com/office/officeart/2018/2/layout/IconVerticalSolidList"/>
    <dgm:cxn modelId="{7A6CBF9F-8EF1-45A3-A00F-14D20C581D4B}" type="presParOf" srcId="{49E2347E-02FE-46B1-951A-77EEF850F9D5}" destId="{B1B13443-4123-488B-8190-DA0DF16753A4}" srcOrd="3" destOrd="0" presId="urn:microsoft.com/office/officeart/2018/2/layout/IconVerticalSolidList"/>
    <dgm:cxn modelId="{FEBF8EE1-A709-4CB3-90C5-21B7103E8A20}" type="presParOf" srcId="{C017E157-6A66-4676-BA87-5BB172EF0B74}" destId="{752C16B6-095F-4F24-A486-091372348B46}" srcOrd="5" destOrd="0" presId="urn:microsoft.com/office/officeart/2018/2/layout/IconVerticalSolidList"/>
    <dgm:cxn modelId="{1F8EC8B9-A66C-4070-A389-D6993CE4FDC4}" type="presParOf" srcId="{C017E157-6A66-4676-BA87-5BB172EF0B74}" destId="{67D39E80-70C1-41B0-891F-10B6F2C3E704}" srcOrd="6" destOrd="0" presId="urn:microsoft.com/office/officeart/2018/2/layout/IconVerticalSolidList"/>
    <dgm:cxn modelId="{FE08197D-F454-404D-9E91-CA07D0FE8715}" type="presParOf" srcId="{67D39E80-70C1-41B0-891F-10B6F2C3E704}" destId="{48043B67-AD0A-4020-A0BB-63EB518B29A3}" srcOrd="0" destOrd="0" presId="urn:microsoft.com/office/officeart/2018/2/layout/IconVerticalSolidList"/>
    <dgm:cxn modelId="{783E2563-FF14-4E7F-B4AC-FB21DE2B757F}" type="presParOf" srcId="{67D39E80-70C1-41B0-891F-10B6F2C3E704}" destId="{1E516C7A-B394-4DBB-982E-A6D180CE8CEC}" srcOrd="1" destOrd="0" presId="urn:microsoft.com/office/officeart/2018/2/layout/IconVerticalSolidList"/>
    <dgm:cxn modelId="{13C4ECFF-1227-4DF4-B8E1-96BD27396453}" type="presParOf" srcId="{67D39E80-70C1-41B0-891F-10B6F2C3E704}" destId="{474F8724-5E27-4B49-AF43-140EF2E68B1E}" srcOrd="2" destOrd="0" presId="urn:microsoft.com/office/officeart/2018/2/layout/IconVerticalSolidList"/>
    <dgm:cxn modelId="{BFD8EBFA-ED3C-4E7A-8E24-1FBE1D27E057}" type="presParOf" srcId="{67D39E80-70C1-41B0-891F-10B6F2C3E704}" destId="{E72449DB-5FE9-4382-9BF6-DAB70CCB0BB5}" srcOrd="3" destOrd="0" presId="urn:microsoft.com/office/officeart/2018/2/layout/IconVerticalSolidList"/>
    <dgm:cxn modelId="{75479B1D-5A2A-4118-AC0B-2D9F4F5667E7}" type="presParOf" srcId="{C017E157-6A66-4676-BA87-5BB172EF0B74}" destId="{465C6142-530F-47D6-9F8B-21A28D837D03}" srcOrd="7" destOrd="0" presId="urn:microsoft.com/office/officeart/2018/2/layout/IconVerticalSolidList"/>
    <dgm:cxn modelId="{8850D7D5-83E2-4D34-B141-5FD86F5AE933}" type="presParOf" srcId="{C017E157-6A66-4676-BA87-5BB172EF0B74}" destId="{8B3D2184-1ABF-431E-96BE-EA2AB7D332DC}" srcOrd="8" destOrd="0" presId="urn:microsoft.com/office/officeart/2018/2/layout/IconVerticalSolidList"/>
    <dgm:cxn modelId="{1CC2E7CD-4200-4CDA-8C5E-0C7D22C39270}" type="presParOf" srcId="{8B3D2184-1ABF-431E-96BE-EA2AB7D332DC}" destId="{A27613F2-6136-434C-B70A-23AE2CC38A92}" srcOrd="0" destOrd="0" presId="urn:microsoft.com/office/officeart/2018/2/layout/IconVerticalSolidList"/>
    <dgm:cxn modelId="{3C7EBA1F-9B7B-4E00-B64D-4DE121C84C92}" type="presParOf" srcId="{8B3D2184-1ABF-431E-96BE-EA2AB7D332DC}" destId="{6DD0AA85-9FE9-4BAA-A762-B996E665E1B4}" srcOrd="1" destOrd="0" presId="urn:microsoft.com/office/officeart/2018/2/layout/IconVerticalSolidList"/>
    <dgm:cxn modelId="{A37A50A0-0F2A-4258-B57A-BBC97F791420}" type="presParOf" srcId="{8B3D2184-1ABF-431E-96BE-EA2AB7D332DC}" destId="{A54CA413-7B49-41F0-9758-20B087CEE83C}" srcOrd="2" destOrd="0" presId="urn:microsoft.com/office/officeart/2018/2/layout/IconVerticalSolidList"/>
    <dgm:cxn modelId="{B7A5D504-32E0-4A7C-867D-CD371DDF599D}" type="presParOf" srcId="{8B3D2184-1ABF-431E-96BE-EA2AB7D332DC}" destId="{27E18887-791F-449E-B3E0-A9E14DB590DC}" srcOrd="3" destOrd="0" presId="urn:microsoft.com/office/officeart/2018/2/layout/IconVerticalSolidList"/>
    <dgm:cxn modelId="{784FD7C7-274A-4086-9BF9-6109629031FC}" type="presParOf" srcId="{C017E157-6A66-4676-BA87-5BB172EF0B74}" destId="{10A17F6C-88C3-456E-A932-EE515E165791}" srcOrd="9" destOrd="0" presId="urn:microsoft.com/office/officeart/2018/2/layout/IconVerticalSolidList"/>
    <dgm:cxn modelId="{C08726F7-1B7A-4BF2-ABF6-4F00CAC78B87}" type="presParOf" srcId="{C017E157-6A66-4676-BA87-5BB172EF0B74}" destId="{40BC2764-F672-4A56-A173-10420E68F50A}" srcOrd="10" destOrd="0" presId="urn:microsoft.com/office/officeart/2018/2/layout/IconVerticalSolidList"/>
    <dgm:cxn modelId="{256FA393-73BD-450E-805B-8A05D1759A2D}" type="presParOf" srcId="{40BC2764-F672-4A56-A173-10420E68F50A}" destId="{9D265F15-2564-4A01-A4C0-4CAB23280CB3}" srcOrd="0" destOrd="0" presId="urn:microsoft.com/office/officeart/2018/2/layout/IconVerticalSolidList"/>
    <dgm:cxn modelId="{3F4A605F-EB65-452A-89F5-5DDEFD007F28}" type="presParOf" srcId="{40BC2764-F672-4A56-A173-10420E68F50A}" destId="{51C6D71E-BE07-443F-A165-79EC7D914FA4}" srcOrd="1" destOrd="0" presId="urn:microsoft.com/office/officeart/2018/2/layout/IconVerticalSolidList"/>
    <dgm:cxn modelId="{17ABB2EC-28E8-474D-A1FF-7BF659CC8E6B}" type="presParOf" srcId="{40BC2764-F672-4A56-A173-10420E68F50A}" destId="{184C399E-10BA-4E67-9C36-9BECFD760906}" srcOrd="2" destOrd="0" presId="urn:microsoft.com/office/officeart/2018/2/layout/IconVerticalSolidList"/>
    <dgm:cxn modelId="{3B0441D0-5BE2-4B20-9526-1324260E9048}" type="presParOf" srcId="{40BC2764-F672-4A56-A173-10420E68F50A}" destId="{0DC8D234-23E5-4C0F-8B19-FA413DB2B33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B9932B-5BE5-4636-9244-1E317DB9D487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8BC0FC-CA37-413C-9E7E-DB147FDB97D9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7F6C1C-401F-4031-83FA-F8E916082C89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This project implemented a computer vision–based framework capable of detecting and concealing sensitive information in visual media.</a:t>
          </a:r>
        </a:p>
      </dsp:txBody>
      <dsp:txXfrm>
        <a:off x="1357965" y="2319"/>
        <a:ext cx="4887299" cy="1175727"/>
      </dsp:txXfrm>
    </dsp:sp>
    <dsp:sp modelId="{B138D6F5-ADAD-4207-B019-3255F43928D8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A00F07-3BD4-453E-8858-CD2F7B7FEA6D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731222-83E4-4586-B4D3-70AC06624E13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High precision and recall across multiple models validate the system’s robustness and reliability.</a:t>
          </a:r>
        </a:p>
      </dsp:txBody>
      <dsp:txXfrm>
        <a:off x="1357965" y="1471979"/>
        <a:ext cx="4887299" cy="1175727"/>
      </dsp:txXfrm>
    </dsp:sp>
    <dsp:sp modelId="{D945A548-F630-4804-A1C8-B0213D5251B5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6A562B-377E-4F2E-A411-043AC851E905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345EF5-6DD3-4F25-9E67-FAEDC756D978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proposed approach demonstrates significant potential for real-world deployment in enhancing user privacy and data protection.</a:t>
          </a:r>
        </a:p>
      </dsp:txBody>
      <dsp:txXfrm>
        <a:off x="1357965" y="2941639"/>
        <a:ext cx="4887299" cy="1175727"/>
      </dsp:txXfrm>
    </dsp:sp>
    <dsp:sp modelId="{E77E8DF2-89A9-4068-8DCD-B50BFB2AD947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528D34-6C74-4F0F-A0A9-17B80CCDCA5D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6108B4-D92C-4051-A39C-CFB40D86E190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By integrating advanced detection with automated redaction, </a:t>
          </a:r>
          <a:r>
            <a:rPr lang="en-US" sz="1400" i="1" kern="1200"/>
            <a:t>Protective Vision</a:t>
          </a:r>
          <a:r>
            <a:rPr lang="en-US" sz="1400" kern="1200"/>
            <a:t> contributes toward developing secure, ethical, and intelligent privacy-preserving systems.</a:t>
          </a:r>
        </a:p>
      </dsp:txBody>
      <dsp:txXfrm>
        <a:off x="1357965" y="4411299"/>
        <a:ext cx="4887299" cy="1175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EB2443-D28C-4256-8B62-498452FC37D4}">
      <dsp:nvSpPr>
        <dsp:cNvPr id="0" name=""/>
        <dsp:cNvSpPr/>
      </dsp:nvSpPr>
      <dsp:spPr>
        <a:xfrm>
          <a:off x="0" y="1356"/>
          <a:ext cx="10927829" cy="5779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70ED97-21F4-4BC0-9972-92A546ADA1B8}">
      <dsp:nvSpPr>
        <dsp:cNvPr id="0" name=""/>
        <dsp:cNvSpPr/>
      </dsp:nvSpPr>
      <dsp:spPr>
        <a:xfrm>
          <a:off x="174827" y="131393"/>
          <a:ext cx="317869" cy="3178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0911CB-53B3-4A43-897B-3F21535B492A}">
      <dsp:nvSpPr>
        <dsp:cNvPr id="0" name=""/>
        <dsp:cNvSpPr/>
      </dsp:nvSpPr>
      <dsp:spPr>
        <a:xfrm>
          <a:off x="667525" y="1356"/>
          <a:ext cx="10260303" cy="577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66" tIns="61166" rIns="61166" bIns="6116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Extend detection beyond plates and cards to include ID cards, handwritten notes, QR codes, and official documents.</a:t>
          </a:r>
        </a:p>
      </dsp:txBody>
      <dsp:txXfrm>
        <a:off x="667525" y="1356"/>
        <a:ext cx="10260303" cy="577943"/>
      </dsp:txXfrm>
    </dsp:sp>
    <dsp:sp modelId="{9A827BF4-547E-4078-AEE3-47673D63E04D}">
      <dsp:nvSpPr>
        <dsp:cNvPr id="0" name=""/>
        <dsp:cNvSpPr/>
      </dsp:nvSpPr>
      <dsp:spPr>
        <a:xfrm>
          <a:off x="0" y="723786"/>
          <a:ext cx="10927829" cy="5779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C7CFE3-F6E4-42FF-9D43-BFD824A6DA7B}">
      <dsp:nvSpPr>
        <dsp:cNvPr id="0" name=""/>
        <dsp:cNvSpPr/>
      </dsp:nvSpPr>
      <dsp:spPr>
        <a:xfrm>
          <a:off x="174827" y="853823"/>
          <a:ext cx="317869" cy="3178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33CCA-8E48-4E2B-9D9A-27CFC31456D9}">
      <dsp:nvSpPr>
        <dsp:cNvPr id="0" name=""/>
        <dsp:cNvSpPr/>
      </dsp:nvSpPr>
      <dsp:spPr>
        <a:xfrm>
          <a:off x="667525" y="723786"/>
          <a:ext cx="10260303" cy="577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66" tIns="61166" rIns="61166" bIns="6116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b="0" kern="1200" dirty="0"/>
            <a:t>Use lighter YOLO </a:t>
          </a:r>
          <a:r>
            <a:rPr lang="en-US" sz="1800" b="0" kern="1200" dirty="0"/>
            <a:t>versions</a:t>
          </a:r>
          <a:r>
            <a:rPr lang="en-US" b="0" kern="1200" dirty="0"/>
            <a:t>, model pruning, and compression for faster results.</a:t>
          </a:r>
        </a:p>
      </dsp:txBody>
      <dsp:txXfrm>
        <a:off x="667525" y="723786"/>
        <a:ext cx="10260303" cy="577943"/>
      </dsp:txXfrm>
    </dsp:sp>
    <dsp:sp modelId="{152FBEB1-70F6-44D8-A0F6-B41D9453C035}">
      <dsp:nvSpPr>
        <dsp:cNvPr id="0" name=""/>
        <dsp:cNvSpPr/>
      </dsp:nvSpPr>
      <dsp:spPr>
        <a:xfrm>
          <a:off x="0" y="1446215"/>
          <a:ext cx="10927829" cy="5779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73BE96-D10D-4F5A-AF16-B9C1187DA6BC}">
      <dsp:nvSpPr>
        <dsp:cNvPr id="0" name=""/>
        <dsp:cNvSpPr/>
      </dsp:nvSpPr>
      <dsp:spPr>
        <a:xfrm>
          <a:off x="174827" y="1576253"/>
          <a:ext cx="317869" cy="3178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13443-4123-488B-8190-DA0DF16753A4}">
      <dsp:nvSpPr>
        <dsp:cNvPr id="0" name=""/>
        <dsp:cNvSpPr/>
      </dsp:nvSpPr>
      <dsp:spPr>
        <a:xfrm>
          <a:off x="667525" y="1446215"/>
          <a:ext cx="10260303" cy="577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66" tIns="61166" rIns="61166" bIns="6116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Ensure smooth real-time on-mobile processing even on low-end smartphones.</a:t>
          </a:r>
        </a:p>
      </dsp:txBody>
      <dsp:txXfrm>
        <a:off x="667525" y="1446215"/>
        <a:ext cx="10260303" cy="577943"/>
      </dsp:txXfrm>
    </dsp:sp>
    <dsp:sp modelId="{48043B67-AD0A-4020-A0BB-63EB518B29A3}">
      <dsp:nvSpPr>
        <dsp:cNvPr id="0" name=""/>
        <dsp:cNvSpPr/>
      </dsp:nvSpPr>
      <dsp:spPr>
        <a:xfrm>
          <a:off x="0" y="2168645"/>
          <a:ext cx="10927829" cy="5779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516C7A-B394-4DBB-982E-A6D180CE8CEC}">
      <dsp:nvSpPr>
        <dsp:cNvPr id="0" name=""/>
        <dsp:cNvSpPr/>
      </dsp:nvSpPr>
      <dsp:spPr>
        <a:xfrm>
          <a:off x="174827" y="2298682"/>
          <a:ext cx="317869" cy="3178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2449DB-5FE9-4382-9BF6-DAB70CCB0BB5}">
      <dsp:nvSpPr>
        <dsp:cNvPr id="0" name=""/>
        <dsp:cNvSpPr/>
      </dsp:nvSpPr>
      <dsp:spPr>
        <a:xfrm>
          <a:off x="667525" y="2168645"/>
          <a:ext cx="10260303" cy="577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66" tIns="61166" rIns="61166" bIns="6116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Integrate into OLX, PakWheels, or other platforms for automatic privacy protection in user-uploaded images.</a:t>
          </a:r>
        </a:p>
      </dsp:txBody>
      <dsp:txXfrm>
        <a:off x="667525" y="2168645"/>
        <a:ext cx="10260303" cy="577943"/>
      </dsp:txXfrm>
    </dsp:sp>
    <dsp:sp modelId="{A27613F2-6136-434C-B70A-23AE2CC38A92}">
      <dsp:nvSpPr>
        <dsp:cNvPr id="0" name=""/>
        <dsp:cNvSpPr/>
      </dsp:nvSpPr>
      <dsp:spPr>
        <a:xfrm>
          <a:off x="0" y="2891075"/>
          <a:ext cx="10927829" cy="57794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D0AA85-9FE9-4BAA-A762-B996E665E1B4}">
      <dsp:nvSpPr>
        <dsp:cNvPr id="0" name=""/>
        <dsp:cNvSpPr/>
      </dsp:nvSpPr>
      <dsp:spPr>
        <a:xfrm>
          <a:off x="174827" y="3021112"/>
          <a:ext cx="317869" cy="31786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E18887-791F-449E-B3E0-A9E14DB590DC}">
      <dsp:nvSpPr>
        <dsp:cNvPr id="0" name=""/>
        <dsp:cNvSpPr/>
      </dsp:nvSpPr>
      <dsp:spPr>
        <a:xfrm>
          <a:off x="667525" y="2891075"/>
          <a:ext cx="10260303" cy="577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66" tIns="61166" rIns="61166" bIns="6116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Add features like customizable masking styles, multilingual OCR, and voice commands.</a:t>
          </a:r>
        </a:p>
      </dsp:txBody>
      <dsp:txXfrm>
        <a:off x="667525" y="2891075"/>
        <a:ext cx="10260303" cy="577943"/>
      </dsp:txXfrm>
    </dsp:sp>
    <dsp:sp modelId="{9D265F15-2564-4A01-A4C0-4CAB23280CB3}">
      <dsp:nvSpPr>
        <dsp:cNvPr id="0" name=""/>
        <dsp:cNvSpPr/>
      </dsp:nvSpPr>
      <dsp:spPr>
        <a:xfrm>
          <a:off x="0" y="3613504"/>
          <a:ext cx="10927829" cy="5779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C6D71E-BE07-443F-A165-79EC7D914FA4}">
      <dsp:nvSpPr>
        <dsp:cNvPr id="0" name=""/>
        <dsp:cNvSpPr/>
      </dsp:nvSpPr>
      <dsp:spPr>
        <a:xfrm>
          <a:off x="174827" y="3743542"/>
          <a:ext cx="317869" cy="31786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C8D234-23E5-4C0F-8B19-FA413DB2B338}">
      <dsp:nvSpPr>
        <dsp:cNvPr id="0" name=""/>
        <dsp:cNvSpPr/>
      </dsp:nvSpPr>
      <dsp:spPr>
        <a:xfrm>
          <a:off x="667525" y="3613504"/>
          <a:ext cx="10260303" cy="577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66" tIns="61166" rIns="61166" bIns="6116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Research to be continued</a:t>
          </a:r>
        </a:p>
      </dsp:txBody>
      <dsp:txXfrm>
        <a:off x="667525" y="3613504"/>
        <a:ext cx="10260303" cy="5779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mAP@0.5" TargetMode="External"/><Relationship Id="rId2" Type="http://schemas.openxmlformats.org/officeDocument/2006/relationships/hyperlink" Target="mailto:mAP@0.5%E2%80%930.95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12" Type="http://schemas.openxmlformats.org/officeDocument/2006/relationships/image" Target="../media/image26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238 Redacted Text Stock Video Footage - 4K and HD Video Clips | Shutterstock">
            <a:extLst>
              <a:ext uri="{FF2B5EF4-FFF2-40B4-BE49-F238E27FC236}">
                <a16:creationId xmlns:a16="http://schemas.microsoft.com/office/drawing/2014/main" id="{C769DCE2-AF65-9CBE-28CA-B0937662A0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0" r="23887"/>
          <a:stretch>
            <a:fillRect/>
          </a:stretch>
        </p:blipFill>
        <p:spPr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3A28D-4CE2-85A1-FE9F-ADF213F80D66}"/>
              </a:ext>
            </a:extLst>
          </p:cNvPr>
          <p:cNvSpPr txBox="1"/>
          <p:nvPr/>
        </p:nvSpPr>
        <p:spPr>
          <a:xfrm>
            <a:off x="181717" y="1146911"/>
            <a:ext cx="4717504" cy="112572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BF4F14"/>
                </a:solidFill>
                <a:latin typeface="+mj-lt"/>
                <a:ea typeface="+mj-ea"/>
                <a:cs typeface="+mj-cs"/>
              </a:rPr>
              <a:t>Protective Vision</a:t>
            </a:r>
            <a:endParaRPr lang="en-US" sz="4000">
              <a:solidFill>
                <a:srgbClr val="BF4F14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3156E8-D575-D463-A64E-4A8C6A8A7B25}"/>
              </a:ext>
            </a:extLst>
          </p:cNvPr>
          <p:cNvSpPr txBox="1"/>
          <p:nvPr/>
        </p:nvSpPr>
        <p:spPr>
          <a:xfrm>
            <a:off x="184188" y="2718054"/>
            <a:ext cx="3783964" cy="32072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solidFill>
                  <a:srgbClr val="BF4F14"/>
                </a:solidFill>
              </a:rPr>
              <a:t>A Computer Vision Approach to Sensitive Information Detection and Hiding in Social Media Content</a:t>
            </a:r>
            <a:endParaRPr lang="en-US" sz="2000" dirty="0">
              <a:solidFill>
                <a:srgbClr val="BF4F14"/>
              </a:solidFill>
            </a:endParaRPr>
          </a:p>
          <a:p>
            <a:pPr indent="-228600" algn="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BF4F1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9E0828-5ABB-DB3A-3CB9-F8D9F0BD0524}"/>
              </a:ext>
            </a:extLst>
          </p:cNvPr>
          <p:cNvSpPr txBox="1"/>
          <p:nvPr/>
        </p:nvSpPr>
        <p:spPr>
          <a:xfrm>
            <a:off x="182888" y="4314740"/>
            <a:ext cx="434788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BF4F14"/>
                </a:solidFill>
              </a:rPr>
              <a:t>Presented By:</a:t>
            </a:r>
          </a:p>
          <a:p>
            <a:pPr lvl="1"/>
            <a:r>
              <a:rPr lang="en-US" b="1" dirty="0">
                <a:solidFill>
                  <a:srgbClr val="BF4F14"/>
                </a:solidFill>
              </a:rPr>
              <a:t>Muqeet Ahmad</a:t>
            </a:r>
          </a:p>
          <a:p>
            <a:pPr lvl="1"/>
            <a:r>
              <a:rPr lang="en-US" b="1" dirty="0">
                <a:solidFill>
                  <a:srgbClr val="BF4F14"/>
                </a:solidFill>
              </a:rPr>
              <a:t>Ahmad Shafique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D0BF9-40E2-1488-1C31-186360FFC0BD}"/>
              </a:ext>
            </a:extLst>
          </p:cNvPr>
          <p:cNvSpPr txBox="1"/>
          <p:nvPr/>
        </p:nvSpPr>
        <p:spPr>
          <a:xfrm>
            <a:off x="186906" y="5341189"/>
            <a:ext cx="309113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BF4F14"/>
                </a:solidFill>
                <a:latin typeface="Aptos"/>
                <a:ea typeface="Segoe UI"/>
                <a:cs typeface="Segoe UI"/>
              </a:rPr>
              <a:t>Supervised By</a:t>
            </a:r>
            <a:r>
              <a:rPr lang="en-US" sz="2400" b="1" baseline="0" dirty="0">
                <a:solidFill>
                  <a:srgbClr val="BF4F14"/>
                </a:solidFill>
                <a:latin typeface="Aptos"/>
                <a:ea typeface="Segoe UI"/>
                <a:cs typeface="Segoe UI"/>
              </a:rPr>
              <a:t>:</a:t>
            </a:r>
            <a:r>
              <a:rPr lang="en-US" sz="2400" dirty="0">
                <a:solidFill>
                  <a:srgbClr val="BF4F14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lvl="1"/>
            <a:r>
              <a:rPr lang="en-US" b="1" dirty="0">
                <a:solidFill>
                  <a:srgbClr val="BF4F14"/>
                </a:solidFill>
                <a:latin typeface="Aptos"/>
                <a:ea typeface="Segoe UI"/>
                <a:cs typeface="Segoe UI"/>
              </a:rPr>
              <a:t>Dr. Muhammad Safyan</a:t>
            </a:r>
            <a:endParaRPr lang="en-US" sz="1800" dirty="0">
              <a:solidFill>
                <a:srgbClr val="BF4F14"/>
              </a:solidFill>
              <a:latin typeface="Aptos"/>
              <a:ea typeface="Segoe UI"/>
              <a:cs typeface="Segoe UI"/>
            </a:endParaRPr>
          </a:p>
          <a:p>
            <a:pPr algn="ctr" rtl="0"/>
            <a:endParaRPr lang="en-US" sz="1800">
              <a:solidFill>
                <a:srgbClr val="BF4F14"/>
              </a:solidFill>
              <a:latin typeface="Aptos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812547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1F192-ABAF-2F11-CFB7-7B7E637E9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793" y="222250"/>
            <a:ext cx="3860007" cy="1337469"/>
          </a:xfrm>
        </p:spPr>
        <p:txBody>
          <a:bodyPr/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Background</a:t>
            </a:r>
          </a:p>
        </p:txBody>
      </p:sp>
      <p:pic>
        <p:nvPicPr>
          <p:cNvPr id="4" name="Content Placeholder 3" descr="85+ Big Data Statistics To Map Growth in 2025">
            <a:extLst>
              <a:ext uri="{FF2B5EF4-FFF2-40B4-BE49-F238E27FC236}">
                <a16:creationId xmlns:a16="http://schemas.microsoft.com/office/drawing/2014/main" id="{D2680628-C5A8-CBE4-BE80-B25B490277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1238" y="1302544"/>
            <a:ext cx="5558632" cy="42552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8E5BCE-00A7-B675-C037-2713A9D55030}"/>
              </a:ext>
            </a:extLst>
          </p:cNvPr>
          <p:cNvSpPr txBox="1"/>
          <p:nvPr/>
        </p:nvSpPr>
        <p:spPr>
          <a:xfrm>
            <a:off x="352284" y="1711698"/>
            <a:ext cx="5401235" cy="43755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spcAft>
                <a:spcPts val="200"/>
              </a:spcAft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The amount of data produced and shared online is increasing at an exponential rate, leading to growing privacy vulnerabilities.</a:t>
            </a:r>
            <a:endParaRPr lang="en-US" dirty="0"/>
          </a:p>
          <a:p>
            <a:pPr marL="285750" indent="-285750" algn="just">
              <a:spcAft>
                <a:spcPts val="200"/>
              </a:spcAft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Sharing sensitive information on social media can result in </a:t>
            </a:r>
            <a:r>
              <a:rPr lang="en-US" b="1" dirty="0">
                <a:ea typeface="+mn-lt"/>
                <a:cs typeface="+mn-lt"/>
              </a:rPr>
              <a:t>social engineering attacks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privacy breaches.</a:t>
            </a:r>
            <a:endParaRPr lang="en-US" dirty="0"/>
          </a:p>
          <a:p>
            <a:pPr marL="285750" indent="-285750" algn="just">
              <a:spcAft>
                <a:spcPts val="200"/>
              </a:spcAft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Your </a:t>
            </a:r>
            <a:r>
              <a:rPr lang="en-US" b="1" dirty="0">
                <a:ea typeface="+mn-lt"/>
                <a:cs typeface="+mn-lt"/>
              </a:rPr>
              <a:t>vehicle number plate</a:t>
            </a:r>
            <a:r>
              <a:rPr lang="en-US" dirty="0">
                <a:ea typeface="+mn-lt"/>
                <a:cs typeface="+mn-lt"/>
              </a:rPr>
              <a:t> can be misused by unauthorized individuals, potentially leading to </a:t>
            </a:r>
            <a:r>
              <a:rPr lang="en-US" b="1" dirty="0">
                <a:ea typeface="+mn-lt"/>
                <a:cs typeface="+mn-lt"/>
              </a:rPr>
              <a:t>legal or criminal implications.</a:t>
            </a:r>
            <a:endParaRPr lang="en-US" dirty="0"/>
          </a:p>
          <a:p>
            <a:pPr marL="285750" indent="-285750" algn="just">
              <a:spcAft>
                <a:spcPts val="200"/>
              </a:spcAft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Your </a:t>
            </a:r>
            <a:r>
              <a:rPr lang="en-US" b="1" dirty="0">
                <a:ea typeface="+mn-lt"/>
                <a:cs typeface="+mn-lt"/>
              </a:rPr>
              <a:t>bank card</a:t>
            </a:r>
            <a:r>
              <a:rPr lang="en-US" dirty="0">
                <a:ea typeface="+mn-lt"/>
                <a:cs typeface="+mn-lt"/>
              </a:rPr>
              <a:t> left visible in a casual photo may expose confidential details.</a:t>
            </a:r>
            <a:endParaRPr lang="en-US" dirty="0"/>
          </a:p>
          <a:p>
            <a:pPr marL="285750" indent="-285750" algn="just">
              <a:spcAft>
                <a:spcPts val="200"/>
              </a:spcAft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Your </a:t>
            </a:r>
            <a:r>
              <a:rPr lang="en-US" b="1" dirty="0">
                <a:ea typeface="+mn-lt"/>
                <a:cs typeface="+mn-lt"/>
              </a:rPr>
              <a:t>contact number or email address</a:t>
            </a:r>
            <a:r>
              <a:rPr lang="en-US" dirty="0">
                <a:ea typeface="+mn-lt"/>
                <a:cs typeface="+mn-lt"/>
              </a:rPr>
              <a:t> can be leaked unknowingly through platforms like </a:t>
            </a:r>
            <a:r>
              <a:rPr lang="en-US" b="1" dirty="0">
                <a:ea typeface="+mn-lt"/>
                <a:cs typeface="+mn-lt"/>
              </a:rPr>
              <a:t>WhatsApp statuses or stories.</a:t>
            </a:r>
            <a:endParaRPr lang="en-US" dirty="0"/>
          </a:p>
          <a:p>
            <a:pPr marL="285750" indent="-285750" algn="just">
              <a:spcAft>
                <a:spcPts val="200"/>
              </a:spcAft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944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88C07-B705-795C-71DF-E4BDEC861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b="1" dirty="0"/>
              <a:t>Literature Review</a:t>
            </a:r>
          </a:p>
        </p:txBody>
      </p:sp>
      <p:pic>
        <p:nvPicPr>
          <p:cNvPr id="6" name="Picture 5" descr="A cell phone with a green check mark and a green circle&#10;&#10;AI-generated content may be incorrect.">
            <a:extLst>
              <a:ext uri="{FF2B5EF4-FFF2-40B4-BE49-F238E27FC236}">
                <a16:creationId xmlns:a16="http://schemas.microsoft.com/office/drawing/2014/main" id="{39324F56-32DD-A508-FC40-D915F4E2A1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49" r="8054"/>
          <a:stretch>
            <a:fillRect/>
          </a:stretch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F8B12-6FF9-EA60-2C20-42FA411F9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Current systems focus only on </a:t>
            </a:r>
            <a:r>
              <a:rPr lang="en-US" sz="2200" b="1">
                <a:ea typeface="+mn-lt"/>
                <a:cs typeface="+mn-lt"/>
              </a:rPr>
              <a:t>detection</a:t>
            </a:r>
            <a:r>
              <a:rPr lang="en-US" sz="2200">
                <a:ea typeface="+mn-lt"/>
                <a:cs typeface="+mn-lt"/>
              </a:rPr>
              <a:t>, not </a:t>
            </a:r>
            <a:r>
              <a:rPr lang="en-US" sz="2200" b="1">
                <a:ea typeface="+mn-lt"/>
                <a:cs typeface="+mn-lt"/>
              </a:rPr>
              <a:t>redaction</a:t>
            </a:r>
          </a:p>
          <a:p>
            <a:r>
              <a:rPr lang="en-US" sz="2200">
                <a:ea typeface="+mn-lt"/>
                <a:cs typeface="+mn-lt"/>
              </a:rPr>
              <a:t>No single tool handles </a:t>
            </a:r>
            <a:r>
              <a:rPr lang="en-US" sz="2200" b="1">
                <a:ea typeface="+mn-lt"/>
                <a:cs typeface="+mn-lt"/>
              </a:rPr>
              <a:t>multiple types</a:t>
            </a:r>
            <a:r>
              <a:rPr lang="en-US" sz="2200">
                <a:ea typeface="+mn-lt"/>
                <a:cs typeface="+mn-lt"/>
              </a:rPr>
              <a:t> of sensitive info</a:t>
            </a:r>
          </a:p>
          <a:p>
            <a:r>
              <a:rPr lang="en-US" sz="2200">
                <a:ea typeface="+mn-lt"/>
                <a:cs typeface="+mn-lt"/>
              </a:rPr>
              <a:t>Most systems are cloud/desktop-based — not </a:t>
            </a:r>
            <a:r>
              <a:rPr lang="en-US" sz="2200" b="1">
                <a:ea typeface="+mn-lt"/>
                <a:cs typeface="+mn-lt"/>
              </a:rPr>
              <a:t>mobile-friendly</a:t>
            </a:r>
          </a:p>
          <a:p>
            <a:r>
              <a:rPr lang="en-US" sz="2200">
                <a:ea typeface="+mn-lt"/>
                <a:cs typeface="+mn-lt"/>
              </a:rPr>
              <a:t>Detection without masking risks </a:t>
            </a:r>
            <a:r>
              <a:rPr lang="en-US" sz="2200" b="1">
                <a:ea typeface="+mn-lt"/>
                <a:cs typeface="+mn-lt"/>
              </a:rPr>
              <a:t>exposure</a:t>
            </a:r>
          </a:p>
          <a:p>
            <a:r>
              <a:rPr lang="en-US" sz="2200" b="1">
                <a:ea typeface="+mn-lt"/>
                <a:cs typeface="+mn-lt"/>
              </a:rPr>
              <a:t>One-click solution</a:t>
            </a:r>
            <a:r>
              <a:rPr lang="en-US" sz="2200">
                <a:ea typeface="+mn-lt"/>
                <a:cs typeface="+mn-lt"/>
              </a:rPr>
              <a:t> to redact everything</a:t>
            </a:r>
          </a:p>
        </p:txBody>
      </p:sp>
    </p:spTree>
    <p:extLst>
      <p:ext uri="{BB962C8B-B14F-4D97-AF65-F5344CB8AC3E}">
        <p14:creationId xmlns:p14="http://schemas.microsoft.com/office/powerpoint/2010/main" val="3785345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rrow: Right 13">
            <a:extLst>
              <a:ext uri="{FF2B5EF4-FFF2-40B4-BE49-F238E27FC236}">
                <a16:creationId xmlns:a16="http://schemas.microsoft.com/office/drawing/2014/main" id="{7F11D98C-ED9D-E646-12FD-BA72128CA6FA}"/>
              </a:ext>
            </a:extLst>
          </p:cNvPr>
          <p:cNvSpPr/>
          <p:nvPr/>
        </p:nvSpPr>
        <p:spPr>
          <a:xfrm>
            <a:off x="6499412" y="4459941"/>
            <a:ext cx="1255058" cy="3585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110C2-53B1-5E79-4228-86D676154F11}"/>
              </a:ext>
            </a:extLst>
          </p:cNvPr>
          <p:cNvSpPr txBox="1"/>
          <p:nvPr/>
        </p:nvSpPr>
        <p:spPr>
          <a:xfrm>
            <a:off x="779336" y="172950"/>
            <a:ext cx="1064262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dirty="0"/>
              <a:t>Dataset, Augmentation and Training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728F32-D3F0-C77D-DE46-A33558F8C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446960"/>
              </p:ext>
            </p:extLst>
          </p:nvPr>
        </p:nvGraphicFramePr>
        <p:xfrm>
          <a:off x="517584" y="948905"/>
          <a:ext cx="11152093" cy="15680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751">
                  <a:extLst>
                    <a:ext uri="{9D8B030D-6E8A-4147-A177-3AD203B41FA5}">
                      <a16:colId xmlns:a16="http://schemas.microsoft.com/office/drawing/2014/main" val="2700768616"/>
                    </a:ext>
                  </a:extLst>
                </a:gridCol>
                <a:gridCol w="1620751">
                  <a:extLst>
                    <a:ext uri="{9D8B030D-6E8A-4147-A177-3AD203B41FA5}">
                      <a16:colId xmlns:a16="http://schemas.microsoft.com/office/drawing/2014/main" val="2219928815"/>
                    </a:ext>
                  </a:extLst>
                </a:gridCol>
                <a:gridCol w="1620751">
                  <a:extLst>
                    <a:ext uri="{9D8B030D-6E8A-4147-A177-3AD203B41FA5}">
                      <a16:colId xmlns:a16="http://schemas.microsoft.com/office/drawing/2014/main" val="1024379066"/>
                    </a:ext>
                  </a:extLst>
                </a:gridCol>
                <a:gridCol w="1620751">
                  <a:extLst>
                    <a:ext uri="{9D8B030D-6E8A-4147-A177-3AD203B41FA5}">
                      <a16:colId xmlns:a16="http://schemas.microsoft.com/office/drawing/2014/main" val="2474932723"/>
                    </a:ext>
                  </a:extLst>
                </a:gridCol>
                <a:gridCol w="1556363">
                  <a:extLst>
                    <a:ext uri="{9D8B030D-6E8A-4147-A177-3AD203B41FA5}">
                      <a16:colId xmlns:a16="http://schemas.microsoft.com/office/drawing/2014/main" val="801801133"/>
                    </a:ext>
                  </a:extLst>
                </a:gridCol>
                <a:gridCol w="1556363">
                  <a:extLst>
                    <a:ext uri="{9D8B030D-6E8A-4147-A177-3AD203B41FA5}">
                      <a16:colId xmlns:a16="http://schemas.microsoft.com/office/drawing/2014/main" val="1251646040"/>
                    </a:ext>
                  </a:extLst>
                </a:gridCol>
                <a:gridCol w="1556363">
                  <a:extLst>
                    <a:ext uri="{9D8B030D-6E8A-4147-A177-3AD203B41FA5}">
                      <a16:colId xmlns:a16="http://schemas.microsoft.com/office/drawing/2014/main" val="2043010563"/>
                    </a:ext>
                  </a:extLst>
                </a:gridCol>
              </a:tblGrid>
              <a:tr h="5226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Original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Augmented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6210451"/>
                  </a:ext>
                </a:extLst>
              </a:tr>
              <a:tr h="522682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Vehicle Plate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1768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1769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1645545"/>
                  </a:ext>
                </a:extLst>
              </a:tr>
              <a:tr h="522682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Banking 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385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385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927529"/>
                  </a:ext>
                </a:extLst>
              </a:tr>
            </a:tbl>
          </a:graphicData>
        </a:graphic>
      </p:graphicFrame>
      <p:pic>
        <p:nvPicPr>
          <p:cNvPr id="5" name="Picture 4" descr="A car on the road&#10;&#10;AI-generated content may be incorrect.">
            <a:extLst>
              <a:ext uri="{FF2B5EF4-FFF2-40B4-BE49-F238E27FC236}">
                <a16:creationId xmlns:a16="http://schemas.microsoft.com/office/drawing/2014/main" id="{64B41F98-61A9-2873-48A3-6097EF537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381" y="2662238"/>
            <a:ext cx="2117423" cy="1469239"/>
          </a:xfrm>
          <a:prstGeom prst="rect">
            <a:avLst/>
          </a:prstGeom>
        </p:spPr>
      </p:pic>
      <p:pic>
        <p:nvPicPr>
          <p:cNvPr id="6" name="Picture 5" descr="A car parked on the side of the road&#10;&#10;AI-generated content may be incorrect.">
            <a:extLst>
              <a:ext uri="{FF2B5EF4-FFF2-40B4-BE49-F238E27FC236}">
                <a16:creationId xmlns:a16="http://schemas.microsoft.com/office/drawing/2014/main" id="{CE0F83AE-A250-9C71-E1C0-10DF357F3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400425"/>
            <a:ext cx="4071937" cy="2743200"/>
          </a:xfrm>
          <a:prstGeom prst="rect">
            <a:avLst/>
          </a:prstGeom>
        </p:spPr>
      </p:pic>
      <p:pic>
        <p:nvPicPr>
          <p:cNvPr id="7" name="Picture 6" descr="A car parked on the side of the road&#10;&#10;AI-generated content may be incorrect.">
            <a:extLst>
              <a:ext uri="{FF2B5EF4-FFF2-40B4-BE49-F238E27FC236}">
                <a16:creationId xmlns:a16="http://schemas.microsoft.com/office/drawing/2014/main" id="{11248D45-BBCE-CF31-358C-28C20719A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1381" y="5233988"/>
            <a:ext cx="2117423" cy="1469239"/>
          </a:xfrm>
          <a:prstGeom prst="rect">
            <a:avLst/>
          </a:prstGeom>
        </p:spPr>
      </p:pic>
      <p:pic>
        <p:nvPicPr>
          <p:cNvPr id="8" name="Picture 7" descr="A car parked on the side of the road&#10;&#10;AI-generated content may be incorrect.">
            <a:extLst>
              <a:ext uri="{FF2B5EF4-FFF2-40B4-BE49-F238E27FC236}">
                <a16:creationId xmlns:a16="http://schemas.microsoft.com/office/drawing/2014/main" id="{DBF4051F-3187-6409-C184-44CF41D762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1694" y="3924300"/>
            <a:ext cx="2117423" cy="14692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4AEDBD-3D10-1D44-54A1-F26529446F45}"/>
              </a:ext>
            </a:extLst>
          </p:cNvPr>
          <p:cNvSpPr txBox="1"/>
          <p:nvPr/>
        </p:nvSpPr>
        <p:spPr>
          <a:xfrm>
            <a:off x="519671" y="6331323"/>
            <a:ext cx="38772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Original Image</a:t>
            </a:r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56FF726-0C6C-D49F-C69F-DDBDAEEA64BC}"/>
              </a:ext>
            </a:extLst>
          </p:cNvPr>
          <p:cNvSpPr/>
          <p:nvPr/>
        </p:nvSpPr>
        <p:spPr>
          <a:xfrm>
            <a:off x="4828335" y="4258935"/>
            <a:ext cx="1843086" cy="7953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After Augmentation</a:t>
            </a:r>
          </a:p>
        </p:txBody>
      </p:sp>
    </p:spTree>
    <p:extLst>
      <p:ext uri="{BB962C8B-B14F-4D97-AF65-F5344CB8AC3E}">
        <p14:creationId xmlns:p14="http://schemas.microsoft.com/office/powerpoint/2010/main" val="2787657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A20681-BB77-AF2E-46E1-71EDC12100B4}"/>
              </a:ext>
            </a:extLst>
          </p:cNvPr>
          <p:cNvSpPr txBox="1"/>
          <p:nvPr/>
        </p:nvSpPr>
        <p:spPr>
          <a:xfrm>
            <a:off x="1621259" y="268941"/>
            <a:ext cx="8942294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dirty="0">
                <a:ea typeface="+mn-lt"/>
                <a:cs typeface="+mn-lt"/>
              </a:rPr>
              <a:t>Model Training &amp; Results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C786D6-4321-E43F-945B-70CFABC0A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80" y="1071113"/>
            <a:ext cx="5484689" cy="2760454"/>
          </a:xfrm>
          <a:prstGeom prst="rect">
            <a:avLst/>
          </a:prstGeom>
        </p:spPr>
      </p:pic>
      <p:pic>
        <p:nvPicPr>
          <p:cNvPr id="4" name="Picture 3" descr="A group of graphs with numbers&#10;&#10;AI-generated content may be incorrect.">
            <a:extLst>
              <a:ext uri="{FF2B5EF4-FFF2-40B4-BE49-F238E27FC236}">
                <a16:creationId xmlns:a16="http://schemas.microsoft.com/office/drawing/2014/main" id="{CB6899CF-AAC8-A90B-0BFE-2DD660C87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595" y="3590744"/>
            <a:ext cx="5484690" cy="27748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642E8A-E8E8-7BA5-EBDC-C5BEB4B209E1}"/>
              </a:ext>
            </a:extLst>
          </p:cNvPr>
          <p:cNvSpPr txBox="1"/>
          <p:nvPr/>
        </p:nvSpPr>
        <p:spPr>
          <a:xfrm>
            <a:off x="3584613" y="4983024"/>
            <a:ext cx="293594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Card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2CF932-7CB8-FA2B-83E5-CDA6F486BD51}"/>
              </a:ext>
            </a:extLst>
          </p:cNvPr>
          <p:cNvSpPr txBox="1"/>
          <p:nvPr/>
        </p:nvSpPr>
        <p:spPr>
          <a:xfrm>
            <a:off x="6345065" y="2222570"/>
            <a:ext cx="35397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Plate Model</a:t>
            </a:r>
          </a:p>
        </p:txBody>
      </p:sp>
    </p:spTree>
    <p:extLst>
      <p:ext uri="{BB962C8B-B14F-4D97-AF65-F5344CB8AC3E}">
        <p14:creationId xmlns:p14="http://schemas.microsoft.com/office/powerpoint/2010/main" val="3347131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442D0871-F189-0CF7-DBC2-FEEE8FD61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860" y="346167"/>
            <a:ext cx="2118594" cy="1588946"/>
          </a:xfrm>
          <a:prstGeom prst="rect">
            <a:avLst/>
          </a:prstGeom>
        </p:spPr>
      </p:pic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1F0FCA64-65F3-C81C-80CF-BA27FB435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216" y="346167"/>
            <a:ext cx="2319016" cy="15479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8191ED-F8BE-BAE2-0A25-DB604AD4C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981" y="346168"/>
            <a:ext cx="2315133" cy="1545352"/>
          </a:xfrm>
          <a:prstGeom prst="rect">
            <a:avLst/>
          </a:prstGeom>
        </p:spPr>
      </p:pic>
      <p:pic>
        <p:nvPicPr>
          <p:cNvPr id="6" name="Picture 5" descr="A graph of a confidence curve&#10;&#10;AI-generated content may be incorrect.">
            <a:extLst>
              <a:ext uri="{FF2B5EF4-FFF2-40B4-BE49-F238E27FC236}">
                <a16:creationId xmlns:a16="http://schemas.microsoft.com/office/drawing/2014/main" id="{31E64F00-2020-9501-045F-5BAD0644B4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44" y="2639045"/>
            <a:ext cx="2380424" cy="1588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F5CFC4-9D11-BD6D-1EB9-6B0F780454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058" y="4930536"/>
            <a:ext cx="2371031" cy="1582664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5A17FC0-D416-4C8B-A9E6-5924D352B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55127" y="2300641"/>
            <a:ext cx="4236873" cy="45573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C8609D-6EA1-22F9-A17C-44919B6AE48E}"/>
              </a:ext>
            </a:extLst>
          </p:cNvPr>
          <p:cNvSpPr txBox="1"/>
          <p:nvPr/>
        </p:nvSpPr>
        <p:spPr>
          <a:xfrm>
            <a:off x="8325284" y="2916520"/>
            <a:ext cx="3588013" cy="233811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Evaluation</a:t>
            </a:r>
            <a:endParaRPr lang="en-US" sz="4400"/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Metrics</a:t>
            </a:r>
            <a:endParaRPr lang="en-US" sz="4400">
              <a:ea typeface="+mj-ea"/>
              <a:cs typeface="+mj-cs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82DC870-E8E5-4050-B10C-CC24FC67E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2285774"/>
            <a:ext cx="12188952" cy="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F76A74F-C283-4DED-BD4D-086753B7C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4571548"/>
            <a:ext cx="4064320" cy="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B2791FB-B2F7-4BBE-B8D8-74C37FF9E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4319" y="-680"/>
            <a:ext cx="0" cy="6858003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891B5DE-6811-4844-BB18-472A3F360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20742" y="-680"/>
            <a:ext cx="0" cy="224028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AFD2FE4F-EC1A-0BED-D59C-5519D46A29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9829" y="3381856"/>
            <a:ext cx="3179408" cy="2384556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7A9CA3A-7216-41E0-B3CD-058077FD3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40636" y="5336249"/>
            <a:ext cx="1892695" cy="0"/>
          </a:xfrm>
          <a:prstGeom prst="line">
            <a:avLst/>
          </a:prstGeom>
          <a:ln w="15875">
            <a:solidFill>
              <a:srgbClr val="FFFFFF">
                <a:alpha val="7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02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D47E2F-4C6F-166C-82BC-248CCBED1E60}"/>
              </a:ext>
            </a:extLst>
          </p:cNvPr>
          <p:cNvSpPr txBox="1"/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Evaluation </a:t>
            </a:r>
            <a:r>
              <a:rPr lang="en-US" sz="4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Metrics</a:t>
            </a:r>
            <a:endParaRPr lang="en-US" sz="44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693A72-2401-5EE3-98B7-6DCF2DE484DB}"/>
              </a:ext>
            </a:extLst>
          </p:cNvPr>
          <p:cNvSpPr txBox="1"/>
          <p:nvPr/>
        </p:nvSpPr>
        <p:spPr>
          <a:xfrm>
            <a:off x="1155548" y="2479280"/>
            <a:ext cx="9880893" cy="395961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For the license plate model, training stabilized around 60 epochs. The final evaluation achieved a precision of 98.5%, a recall of 96.7%, and a mean Average Precision at </a:t>
            </a:r>
            <a:r>
              <a:rPr lang="en-US" dirty="0" err="1"/>
              <a:t>IoU</a:t>
            </a:r>
            <a:r>
              <a:rPr lang="en-US" dirty="0"/>
              <a:t> 0.5 of 98.9%. The stricter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mAP@0.5–0.95</a:t>
            </a:r>
            <a:r>
              <a:rPr lang="en-US" dirty="0"/>
              <a:t> stood at 72.6% reflecting reason able performance under varying </a:t>
            </a:r>
            <a:r>
              <a:rPr lang="en-US" dirty="0" err="1"/>
              <a:t>IoU</a:t>
            </a:r>
            <a:r>
              <a:rPr lang="en-US" dirty="0"/>
              <a:t> thresholds. While precision is high, recall is the more critical number here. A recall of 96.7% means that most plates were detected and masked. Only a very small fraction might slip through without being hidden, and that is the risk we want to keep as low as possible. </a:t>
            </a:r>
            <a:endParaRPr lang="en-US"/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The banking card model needed more training, about 100 epochs, due to the smaller data set. The results were even stronger, with precision at 99.4%, recall at 99.2%, and </a:t>
            </a: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mAP@0.5</a:t>
            </a:r>
            <a:r>
              <a:rPr lang="en-US" dirty="0"/>
              <a:t> at 99.2%. Its stricter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mAP@0.5–0.95</a:t>
            </a:r>
            <a:r>
              <a:rPr lang="en-US" dirty="0"/>
              <a:t> reached 86.7%, higher than the plate model. Once again, recall is the key metric. At 99.2%, the model missed almost no card instances. This is crucial since even a single uncovered card detail, like a number or CVV, could enable unauthorized transactions. Extra masking from false positives is acceptable, but missing a true card detail is not.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025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E6CFBB-EE50-C404-4534-3FD7DF58B8B8}"/>
              </a:ext>
            </a:extLst>
          </p:cNvPr>
          <p:cNvSpPr txBox="1"/>
          <p:nvPr/>
        </p:nvSpPr>
        <p:spPr>
          <a:xfrm>
            <a:off x="1105180" y="151279"/>
            <a:ext cx="999564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dirty="0"/>
              <a:t>System Flowchart</a:t>
            </a:r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3788E9-8CCA-AA6E-0A98-D5E7482AF2FA}"/>
              </a:ext>
            </a:extLst>
          </p:cNvPr>
          <p:cNvSpPr/>
          <p:nvPr/>
        </p:nvSpPr>
        <p:spPr>
          <a:xfrm>
            <a:off x="155481" y="3106130"/>
            <a:ext cx="1903599" cy="129988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User Input</a:t>
            </a:r>
          </a:p>
          <a:p>
            <a:pPr marL="285750" indent="-285750">
              <a:buFont typeface="Calibri"/>
              <a:buChar char="-"/>
            </a:pPr>
            <a:r>
              <a:rPr lang="en-US" sz="1600" b="1" dirty="0"/>
              <a:t>Image/video</a:t>
            </a:r>
          </a:p>
          <a:p>
            <a:pPr marL="285750" indent="-285750">
              <a:buFont typeface="Calibri"/>
              <a:buChar char="-"/>
            </a:pPr>
            <a:r>
              <a:rPr lang="en-US" sz="1600" b="1" dirty="0"/>
              <a:t>Model to use</a:t>
            </a:r>
          </a:p>
          <a:p>
            <a:pPr marL="285750" indent="-285750">
              <a:buFont typeface="Calibri"/>
              <a:buChar char="-"/>
            </a:pPr>
            <a:r>
              <a:rPr lang="en-US" sz="1600" b="1" dirty="0" err="1"/>
              <a:t>Fast_mode</a:t>
            </a:r>
            <a:endParaRPr lang="en-US" sz="1600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963624A-4FB5-B794-4F02-5BE6CC6B6594}"/>
              </a:ext>
            </a:extLst>
          </p:cNvPr>
          <p:cNvSpPr/>
          <p:nvPr/>
        </p:nvSpPr>
        <p:spPr>
          <a:xfrm>
            <a:off x="2819680" y="1459566"/>
            <a:ext cx="1523999" cy="107576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Plate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B5E09AF-35EA-FB42-FEFA-3B1055004A89}"/>
              </a:ext>
            </a:extLst>
          </p:cNvPr>
          <p:cNvSpPr/>
          <p:nvPr/>
        </p:nvSpPr>
        <p:spPr>
          <a:xfrm>
            <a:off x="2819680" y="5031440"/>
            <a:ext cx="1523999" cy="107576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 err="1"/>
              <a:t>EasyOCR</a:t>
            </a:r>
            <a:endParaRPr lang="en-US" b="1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A346B82-6970-D030-D1FB-3E7C9845443D}"/>
              </a:ext>
            </a:extLst>
          </p:cNvPr>
          <p:cNvSpPr/>
          <p:nvPr/>
        </p:nvSpPr>
        <p:spPr>
          <a:xfrm>
            <a:off x="2819680" y="3221690"/>
            <a:ext cx="1523999" cy="107576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/>
              <a:t>Card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09EEF1E-B534-AE71-330D-6446FA30A0AE}"/>
              </a:ext>
            </a:extLst>
          </p:cNvPr>
          <p:cNvSpPr/>
          <p:nvPr/>
        </p:nvSpPr>
        <p:spPr>
          <a:xfrm rot="-1680000">
            <a:off x="1097475" y="2312613"/>
            <a:ext cx="1411941" cy="31376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FDB8893-670B-5122-4B45-CF36DC344308}"/>
              </a:ext>
            </a:extLst>
          </p:cNvPr>
          <p:cNvSpPr/>
          <p:nvPr/>
        </p:nvSpPr>
        <p:spPr>
          <a:xfrm>
            <a:off x="2192850" y="3753271"/>
            <a:ext cx="471826" cy="17517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DD33EB3-E713-6BE5-5FE1-6C45F2470CBD}"/>
              </a:ext>
            </a:extLst>
          </p:cNvPr>
          <p:cNvSpPr/>
          <p:nvPr/>
        </p:nvSpPr>
        <p:spPr>
          <a:xfrm rot="1740000">
            <a:off x="1097475" y="4931987"/>
            <a:ext cx="1411941" cy="31376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2BD535D-2AE7-F59E-5C04-6A20E392DF42}"/>
              </a:ext>
            </a:extLst>
          </p:cNvPr>
          <p:cNvSpPr/>
          <p:nvPr/>
        </p:nvSpPr>
        <p:spPr>
          <a:xfrm>
            <a:off x="6784462" y="3221690"/>
            <a:ext cx="1523999" cy="1075764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/>
              <a:t>Gaussian Blur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4E60515-1589-1674-F62F-A33A89B32541}"/>
              </a:ext>
            </a:extLst>
          </p:cNvPr>
          <p:cNvSpPr/>
          <p:nvPr/>
        </p:nvSpPr>
        <p:spPr>
          <a:xfrm rot="1920000">
            <a:off x="4664262" y="2103840"/>
            <a:ext cx="1626253" cy="31376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B638C85-2E5E-BC25-7E71-4E34CB2D5151}"/>
              </a:ext>
            </a:extLst>
          </p:cNvPr>
          <p:cNvSpPr/>
          <p:nvPr/>
        </p:nvSpPr>
        <p:spPr>
          <a:xfrm>
            <a:off x="4759512" y="3592120"/>
            <a:ext cx="1626253" cy="31376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D5F718A-B7AC-0FD4-C026-F2099D51D0DB}"/>
              </a:ext>
            </a:extLst>
          </p:cNvPr>
          <p:cNvSpPr/>
          <p:nvPr/>
        </p:nvSpPr>
        <p:spPr>
          <a:xfrm>
            <a:off x="4783322" y="5485214"/>
            <a:ext cx="1647685" cy="27852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D5B713E-25A1-5D95-B07D-645E936F343E}"/>
              </a:ext>
            </a:extLst>
          </p:cNvPr>
          <p:cNvSpPr/>
          <p:nvPr/>
        </p:nvSpPr>
        <p:spPr>
          <a:xfrm>
            <a:off x="6808274" y="5126690"/>
            <a:ext cx="1523999" cy="107576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/>
              <a:t>Gemini</a:t>
            </a:r>
          </a:p>
          <a:p>
            <a:pPr algn="ctr"/>
            <a:r>
              <a:rPr lang="en-US" b="1" dirty="0"/>
              <a:t>Gamma 3n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606524D-15F6-743E-DD5E-D738631ACD8C}"/>
              </a:ext>
            </a:extLst>
          </p:cNvPr>
          <p:cNvSpPr/>
          <p:nvPr/>
        </p:nvSpPr>
        <p:spPr>
          <a:xfrm rot="16200000">
            <a:off x="7360163" y="4622427"/>
            <a:ext cx="471826" cy="17517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F1ADF9BA-E7E4-56AA-EED0-66E4A15ACAA2}"/>
              </a:ext>
            </a:extLst>
          </p:cNvPr>
          <p:cNvSpPr/>
          <p:nvPr/>
        </p:nvSpPr>
        <p:spPr>
          <a:xfrm>
            <a:off x="8593325" y="3592120"/>
            <a:ext cx="1468139" cy="31376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916A0EA-A681-8C84-0794-4B166E724AF7}"/>
              </a:ext>
            </a:extLst>
          </p:cNvPr>
          <p:cNvSpPr/>
          <p:nvPr/>
        </p:nvSpPr>
        <p:spPr>
          <a:xfrm>
            <a:off x="10284899" y="3221690"/>
            <a:ext cx="1523999" cy="1075764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/>
              <a:t>Output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A85DBB-A6F8-7D3A-5EB6-93B6ED85BF65}"/>
              </a:ext>
            </a:extLst>
          </p:cNvPr>
          <p:cNvSpPr txBox="1"/>
          <p:nvPr/>
        </p:nvSpPr>
        <p:spPr>
          <a:xfrm>
            <a:off x="4204306" y="2858199"/>
            <a:ext cx="33918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Returns Bounding Boxes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A36902-0A92-A1B1-FE74-BC7461FD046C}"/>
              </a:ext>
            </a:extLst>
          </p:cNvPr>
          <p:cNvSpPr txBox="1"/>
          <p:nvPr/>
        </p:nvSpPr>
        <p:spPr>
          <a:xfrm>
            <a:off x="493058" y="5580529"/>
            <a:ext cx="19827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Text Extraction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E5E24E-FE2A-DAF4-B073-2B39FEDD9E8D}"/>
              </a:ext>
            </a:extLst>
          </p:cNvPr>
          <p:cNvSpPr txBox="1"/>
          <p:nvPr/>
        </p:nvSpPr>
        <p:spPr>
          <a:xfrm>
            <a:off x="4231621" y="5913904"/>
            <a:ext cx="27466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Semantic Validation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803E4C-5191-0FFB-C3DB-13DAEB640867}"/>
              </a:ext>
            </a:extLst>
          </p:cNvPr>
          <p:cNvSpPr txBox="1"/>
          <p:nvPr/>
        </p:nvSpPr>
        <p:spPr>
          <a:xfrm>
            <a:off x="8391105" y="1243151"/>
            <a:ext cx="185807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/>
              <a:t>Returns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dirty="0"/>
              <a:t>Processed </a:t>
            </a:r>
            <a:r>
              <a:rPr lang="en-US" b="1" err="1"/>
              <a:t>img</a:t>
            </a:r>
            <a:r>
              <a:rPr lang="en-US" b="1" dirty="0"/>
              <a:t>/vid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Processing Type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Total Detections</a:t>
            </a:r>
          </a:p>
        </p:txBody>
      </p:sp>
    </p:spTree>
    <p:extLst>
      <p:ext uri="{BB962C8B-B14F-4D97-AF65-F5344CB8AC3E}">
        <p14:creationId xmlns:p14="http://schemas.microsoft.com/office/powerpoint/2010/main" val="1519093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/>
      <p:bldP spid="24" grpId="0"/>
      <p:bldP spid="25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866099-BDA2-3373-9941-2F4733BAD143}"/>
              </a:ext>
            </a:extLst>
          </p:cNvPr>
          <p:cNvSpPr txBox="1"/>
          <p:nvPr/>
        </p:nvSpPr>
        <p:spPr>
          <a:xfrm>
            <a:off x="1255059" y="1277471"/>
            <a:ext cx="948017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Application interface here</a:t>
            </a:r>
          </a:p>
        </p:txBody>
      </p:sp>
    </p:spTree>
    <p:extLst>
      <p:ext uri="{BB962C8B-B14F-4D97-AF65-F5344CB8AC3E}">
        <p14:creationId xmlns:p14="http://schemas.microsoft.com/office/powerpoint/2010/main" val="3049994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219BAC-CC32-1CF6-505E-9B51DDE35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261224" y="4577975"/>
            <a:ext cx="7539349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764D20-1BDD-1029-D273-2FBD31EB0A78}"/>
              </a:ext>
            </a:extLst>
          </p:cNvPr>
          <p:cNvSpPr txBox="1"/>
          <p:nvPr/>
        </p:nvSpPr>
        <p:spPr>
          <a:xfrm>
            <a:off x="4603468" y="4741948"/>
            <a:ext cx="6829520" cy="86203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Tools &amp; Technologies</a:t>
            </a:r>
          </a:p>
        </p:txBody>
      </p:sp>
      <p:pic>
        <p:nvPicPr>
          <p:cNvPr id="5" name="Picture 4" descr="Jaided AI - Distribute the benefits of AI to the world">
            <a:extLst>
              <a:ext uri="{FF2B5EF4-FFF2-40B4-BE49-F238E27FC236}">
                <a16:creationId xmlns:a16="http://schemas.microsoft.com/office/drawing/2014/main" id="{90545E5B-D9E2-C29C-DF5E-CFECB46FC7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71" r="4018" b="538"/>
          <a:stretch>
            <a:fillRect/>
          </a:stretch>
        </p:blipFill>
        <p:spPr>
          <a:xfrm>
            <a:off x="202599" y="321735"/>
            <a:ext cx="2026569" cy="1889357"/>
          </a:xfrm>
          <a:prstGeom prst="rect">
            <a:avLst/>
          </a:prstGeom>
        </p:spPr>
      </p:pic>
      <p:pic>
        <p:nvPicPr>
          <p:cNvPr id="6" name="Picture 5" descr="Google Gemini Logo, symbol, meaning, history, PNG, brand">
            <a:extLst>
              <a:ext uri="{FF2B5EF4-FFF2-40B4-BE49-F238E27FC236}">
                <a16:creationId xmlns:a16="http://schemas.microsoft.com/office/drawing/2014/main" id="{704CD54C-AAF1-45F0-9681-224BE90D4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124" y="-178330"/>
            <a:ext cx="3361137" cy="1890640"/>
          </a:xfrm>
          <a:prstGeom prst="rect">
            <a:avLst/>
          </a:prstGeom>
        </p:spPr>
      </p:pic>
      <p:pic>
        <p:nvPicPr>
          <p:cNvPr id="9" name="Picture 8" descr="Callstack | Expert React &amp; React Native Development Services | Meta Partners">
            <a:extLst>
              <a:ext uri="{FF2B5EF4-FFF2-40B4-BE49-F238E27FC236}">
                <a16:creationId xmlns:a16="http://schemas.microsoft.com/office/drawing/2014/main" id="{3C210B07-8A3A-37C1-431D-AC5930424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71" y="3430844"/>
            <a:ext cx="3677683" cy="1077446"/>
          </a:xfrm>
          <a:prstGeom prst="rect">
            <a:avLst/>
          </a:prstGeom>
        </p:spPr>
      </p:pic>
      <p:pic>
        <p:nvPicPr>
          <p:cNvPr id="11" name="Picture 10" descr="django-python-logo – OPENGIS.ch">
            <a:extLst>
              <a:ext uri="{FF2B5EF4-FFF2-40B4-BE49-F238E27FC236}">
                <a16:creationId xmlns:a16="http://schemas.microsoft.com/office/drawing/2014/main" id="{2AA169F4-881A-67E1-6CF0-CD53A3C210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0368" y="1576540"/>
            <a:ext cx="2655406" cy="2619688"/>
          </a:xfrm>
          <a:prstGeom prst="rect">
            <a:avLst/>
          </a:prstGeom>
        </p:spPr>
      </p:pic>
      <p:pic>
        <p:nvPicPr>
          <p:cNvPr id="4" name="Graphic 3" descr="Ultralytics | Revolutionizing the World of Vision AI">
            <a:extLst>
              <a:ext uri="{FF2B5EF4-FFF2-40B4-BE49-F238E27FC236}">
                <a16:creationId xmlns:a16="http://schemas.microsoft.com/office/drawing/2014/main" id="{7E4408A6-5DF3-9E31-54B4-CEAEA73D39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4315" y="3309729"/>
            <a:ext cx="3683807" cy="661934"/>
          </a:xfrm>
          <a:prstGeom prst="rect">
            <a:avLst/>
          </a:prstGeom>
        </p:spPr>
      </p:pic>
      <p:pic>
        <p:nvPicPr>
          <p:cNvPr id="13" name="Picture 12" descr="Postgresql plain wordmark logo - Social media &amp; Logos Icons">
            <a:extLst>
              <a:ext uri="{FF2B5EF4-FFF2-40B4-BE49-F238E27FC236}">
                <a16:creationId xmlns:a16="http://schemas.microsoft.com/office/drawing/2014/main" id="{5116649C-FFDE-5B3B-5CEC-CAE5431821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1179" y="319707"/>
            <a:ext cx="2311310" cy="2394654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19934" y="5694097"/>
            <a:ext cx="54864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What is Hugging Face? | IBM">
            <a:extLst>
              <a:ext uri="{FF2B5EF4-FFF2-40B4-BE49-F238E27FC236}">
                <a16:creationId xmlns:a16="http://schemas.microsoft.com/office/drawing/2014/main" id="{FA0021E8-59F5-173E-9F69-15BF4665F7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2646" y="773683"/>
            <a:ext cx="3712953" cy="3698576"/>
          </a:xfrm>
          <a:prstGeom prst="rect">
            <a:avLst/>
          </a:prstGeom>
        </p:spPr>
      </p:pic>
      <p:pic>
        <p:nvPicPr>
          <p:cNvPr id="17" name="Picture 16" descr="File:FastAPI logo.svg - Wikimedia Commons">
            <a:extLst>
              <a:ext uri="{FF2B5EF4-FFF2-40B4-BE49-F238E27FC236}">
                <a16:creationId xmlns:a16="http://schemas.microsoft.com/office/drawing/2014/main" id="{16A65F5C-54AA-708F-2B8B-4EA8C27D49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818" y="4923392"/>
            <a:ext cx="3017582" cy="606004"/>
          </a:xfrm>
          <a:prstGeom prst="rect">
            <a:avLst/>
          </a:prstGeom>
        </p:spPr>
      </p:pic>
      <p:pic>
        <p:nvPicPr>
          <p:cNvPr id="21" name="Graphic 20" descr="DigitalOcean Vector Logo - Download Free SVG Icon | Worldvectorlogo">
            <a:extLst>
              <a:ext uri="{FF2B5EF4-FFF2-40B4-BE49-F238E27FC236}">
                <a16:creationId xmlns:a16="http://schemas.microsoft.com/office/drawing/2014/main" id="{ECE812B0-B1C9-39EC-4FCB-27C028220D4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06469" y="880473"/>
            <a:ext cx="2743199" cy="46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845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F1DB6A-EBDE-013F-08D8-3B76A45E9A69}"/>
              </a:ext>
            </a:extLst>
          </p:cNvPr>
          <p:cNvSpPr txBox="1"/>
          <p:nvPr/>
        </p:nvSpPr>
        <p:spPr>
          <a:xfrm>
            <a:off x="479394" y="1113932"/>
            <a:ext cx="3939688" cy="332588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>
                <a:latin typeface="+mj-lt"/>
                <a:ea typeface="+mj-ea"/>
                <a:cs typeface="+mj-cs"/>
              </a:rPr>
              <a:t>Conclusion</a:t>
            </a:r>
            <a:endParaRPr lang="en-US" sz="5400" kern="1200">
              <a:latin typeface="+mj-lt"/>
              <a:ea typeface="+mj-ea"/>
              <a:cs typeface="+mj-cs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extBox 2">
            <a:extLst>
              <a:ext uri="{FF2B5EF4-FFF2-40B4-BE49-F238E27FC236}">
                <a16:creationId xmlns:a16="http://schemas.microsoft.com/office/drawing/2014/main" id="{6FBC46A6-D166-EACE-85C2-040FC8B429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6495811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5021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2F6D07-E269-36CD-A25E-27463F2821F6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Future Work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6" name="TextBox 2">
            <a:extLst>
              <a:ext uri="{FF2B5EF4-FFF2-40B4-BE49-F238E27FC236}">
                <a16:creationId xmlns:a16="http://schemas.microsoft.com/office/drawing/2014/main" id="{E622125A-A8F9-29E9-A07F-6A9948F8AF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821166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2003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3EF36A-22B7-15B2-3D91-464FAE6F94DD}"/>
              </a:ext>
            </a:extLst>
          </p:cNvPr>
          <p:cNvSpPr txBox="1"/>
          <p:nvPr/>
        </p:nvSpPr>
        <p:spPr>
          <a:xfrm>
            <a:off x="2281047" y="2886026"/>
            <a:ext cx="2691579" cy="90085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600"/>
              <a:t>Any Questions?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Graphic 24" descr="Help">
            <a:extLst>
              <a:ext uri="{FF2B5EF4-FFF2-40B4-BE49-F238E27FC236}">
                <a16:creationId xmlns:a16="http://schemas.microsoft.com/office/drawing/2014/main" id="{98AA5342-3E32-A566-B847-19A34445A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F1AC98E-D017-C132-C7C2-56C8E6BFBE0E}"/>
              </a:ext>
            </a:extLst>
          </p:cNvPr>
          <p:cNvSpPr txBox="1"/>
          <p:nvPr/>
        </p:nvSpPr>
        <p:spPr>
          <a:xfrm>
            <a:off x="796317" y="1434352"/>
            <a:ext cx="2543035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5000" b="1" dirty="0"/>
              <a:t>Thank</a:t>
            </a:r>
          </a:p>
          <a:p>
            <a:pPr algn="r"/>
            <a:r>
              <a:rPr lang="en-US" sz="5000" b="1" dirty="0"/>
              <a:t>You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071C6EA-6525-011F-3E54-33E0D7B2488F}"/>
              </a:ext>
            </a:extLst>
          </p:cNvPr>
          <p:cNvSpPr/>
          <p:nvPr/>
        </p:nvSpPr>
        <p:spPr>
          <a:xfrm>
            <a:off x="4123764" y="470647"/>
            <a:ext cx="1501588" cy="147917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BD1F182-B21F-D3F7-D42F-B54A29213658}"/>
              </a:ext>
            </a:extLst>
          </p:cNvPr>
          <p:cNvSpPr/>
          <p:nvPr/>
        </p:nvSpPr>
        <p:spPr>
          <a:xfrm>
            <a:off x="5064358" y="4340178"/>
            <a:ext cx="560995" cy="550489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E5C8D65-4F6E-D6A8-2AF6-D76938F07683}"/>
              </a:ext>
            </a:extLst>
          </p:cNvPr>
          <p:cNvSpPr/>
          <p:nvPr/>
        </p:nvSpPr>
        <p:spPr>
          <a:xfrm>
            <a:off x="563794" y="4340178"/>
            <a:ext cx="1501588" cy="1479176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E353D11-E6F4-D68B-5E41-BD1A27276B07}"/>
              </a:ext>
            </a:extLst>
          </p:cNvPr>
          <p:cNvCxnSpPr/>
          <p:nvPr/>
        </p:nvCxnSpPr>
        <p:spPr>
          <a:xfrm flipV="1">
            <a:off x="-359989" y="-404111"/>
            <a:ext cx="1610845" cy="185107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82AC004-A4E7-0BAB-C39E-F91C5E806708}"/>
              </a:ext>
            </a:extLst>
          </p:cNvPr>
          <p:cNvCxnSpPr>
            <a:cxnSpLocks/>
          </p:cNvCxnSpPr>
          <p:nvPr/>
        </p:nvCxnSpPr>
        <p:spPr>
          <a:xfrm flipV="1">
            <a:off x="-217114" y="-261235"/>
            <a:ext cx="1610845" cy="185107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1FDDD8E-41F5-6821-C74D-537871D31D35}"/>
              </a:ext>
            </a:extLst>
          </p:cNvPr>
          <p:cNvCxnSpPr>
            <a:cxnSpLocks/>
          </p:cNvCxnSpPr>
          <p:nvPr/>
        </p:nvCxnSpPr>
        <p:spPr>
          <a:xfrm flipV="1">
            <a:off x="-74239" y="-118360"/>
            <a:ext cx="1610845" cy="185107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4974B49-C7B3-CD55-8A44-785EC55CD5B7}"/>
              </a:ext>
            </a:extLst>
          </p:cNvPr>
          <p:cNvCxnSpPr>
            <a:cxnSpLocks/>
          </p:cNvCxnSpPr>
          <p:nvPr/>
        </p:nvCxnSpPr>
        <p:spPr>
          <a:xfrm flipV="1">
            <a:off x="-98052" y="-225518"/>
            <a:ext cx="2098999" cy="235113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469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Background</vt:lpstr>
      <vt:lpstr>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812</cp:revision>
  <dcterms:created xsi:type="dcterms:W3CDTF">2013-07-15T20:26:40Z</dcterms:created>
  <dcterms:modified xsi:type="dcterms:W3CDTF">2025-11-05T23:34:52Z</dcterms:modified>
</cp:coreProperties>
</file>